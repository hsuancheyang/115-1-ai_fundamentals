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19"/>
    <p:restoredTop sz="94632"/>
  </p:normalViewPr>
  <p:slideViewPr>
    <p:cSldViewPr snapToGrid="0" snapToObjects="1">
      <p:cViewPr varScale="1">
        <p:scale>
          <a:sx n="133" d="100"/>
          <a:sy n="133" d="100"/>
        </p:scale>
        <p:origin x="1504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2.png"/><Relationship Id="rId7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11" Type="http://schemas.openxmlformats.org/officeDocument/2006/relationships/image" Target="../media/image40.png"/><Relationship Id="rId5" Type="http://schemas.openxmlformats.org/officeDocument/2006/relationships/image" Target="../media/image34.png"/><Relationship Id="rId10" Type="http://schemas.openxmlformats.org/officeDocument/2006/relationships/image" Target="../media/image39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12.png"/><Relationship Id="rId7" Type="http://schemas.openxmlformats.org/officeDocument/2006/relationships/image" Target="../media/image47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80383" y="2764631"/>
            <a:ext cx="7431085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062"/>
              </a:lnSpc>
            </a:pPr>
            <a:r>
              <a:rPr sz="4050" b="1" i="0" u="none">
                <a:solidFill>
                  <a:srgbClr val="0F172A"/>
                </a:solidFill>
                <a:latin typeface="Noto Sans TC"/>
              </a:rPr>
              <a:t>📚 AI 終於可以「開書考」了！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30600" y="3598068"/>
            <a:ext cx="3530798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sz="1800" b="0" i="0" u="none">
                <a:solidFill>
                  <a:srgbClr val="475569"/>
                </a:solidFill>
                <a:latin typeface="Noto Sans TC Medium"/>
              </a:rPr>
              <a:t>RAG 檢索增強生成，終結胡說八道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0308" y="4226718"/>
            <a:ext cx="5831383" cy="4476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456533" y="4350543"/>
            <a:ext cx="1439614" cy="200025"/>
          </a:xfrm>
          <a:prstGeom prst="rect">
            <a:avLst/>
          </a:prstGeom>
          <a:noFill/>
        </p:spPr>
        <p:txBody>
          <a:bodyPr wrap="square" lIns="118616" tIns="0" rIns="0" bIns="0" anchor="t">
            <a:spAutoFit/>
          </a:bodyPr>
          <a:lstStyle/>
          <a:p>
            <a:pPr algn="ctr"/>
            <a:r>
              <a:rPr sz="1200" b="0" i="0" u="none" dirty="0">
                <a:solidFill>
                  <a:srgbClr val="166534"/>
                </a:solidFill>
                <a:latin typeface="Noto Sans TC Medium"/>
              </a:rPr>
              <a:t>建議時間：50 </a:t>
            </a:r>
            <a:r>
              <a:rPr sz="1200" b="0" i="0" u="none" dirty="0" err="1">
                <a:solidFill>
                  <a:srgbClr val="166534"/>
                </a:solidFill>
                <a:latin typeface="Noto Sans TC Medium"/>
              </a:rPr>
              <a:t>分鐘</a:t>
            </a:r>
            <a:endParaRPr sz="1200" b="0" i="0" u="none" dirty="0">
              <a:solidFill>
                <a:srgbClr val="166534"/>
              </a:solidFill>
              <a:latin typeface="Noto Sans TC Medium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39022" y="4350543"/>
            <a:ext cx="39588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166534"/>
                </a:solidFill>
                <a:latin typeface="Noto Sans TC Medium"/>
              </a:rPr>
              <a:t>|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21485" y="4350543"/>
            <a:ext cx="3513980" cy="184666"/>
          </a:xfrm>
          <a:prstGeom prst="rect">
            <a:avLst/>
          </a:prstGeom>
          <a:noFill/>
        </p:spPr>
        <p:txBody>
          <a:bodyPr wrap="square" lIns="118616" tIns="0" rIns="0" bIns="0" anchor="t">
            <a:spAutoFit/>
          </a:bodyPr>
          <a:lstStyle/>
          <a:p>
            <a:pPr algn="ctr"/>
            <a:r>
              <a:rPr sz="1200" b="0" i="0" u="none" dirty="0" err="1">
                <a:solidFill>
                  <a:srgbClr val="166534"/>
                </a:solidFill>
                <a:latin typeface="Noto Sans TC Medium"/>
              </a:rPr>
              <a:t>別讓</a:t>
            </a:r>
            <a:r>
              <a:rPr sz="1200" b="0" i="0" u="none" dirty="0">
                <a:solidFill>
                  <a:srgbClr val="166534"/>
                </a:solidFill>
                <a:latin typeface="Noto Sans TC Medium"/>
              </a:rPr>
              <a:t> AI </a:t>
            </a:r>
            <a:r>
              <a:rPr sz="1200" b="0" i="0" u="none" dirty="0" err="1">
                <a:solidFill>
                  <a:srgbClr val="166534"/>
                </a:solidFill>
                <a:latin typeface="Noto Sans TC Medium"/>
              </a:rPr>
              <a:t>憑空想像，要讓</a:t>
            </a:r>
            <a:r>
              <a:rPr sz="1200" b="0" i="0" u="none" dirty="0">
                <a:solidFill>
                  <a:srgbClr val="166534"/>
                </a:solidFill>
                <a:latin typeface="Noto Sans TC Medium"/>
              </a:rPr>
              <a:t> AI </a:t>
            </a:r>
            <a:r>
              <a:rPr sz="1200" b="0" i="0" u="none" dirty="0" err="1">
                <a:solidFill>
                  <a:srgbClr val="166534"/>
                </a:solidFill>
                <a:latin typeface="Noto Sans TC Medium"/>
              </a:rPr>
              <a:t>有憑有據</a:t>
            </a:r>
            <a:r>
              <a:rPr sz="1200" b="0" i="0" u="none" dirty="0">
                <a:solidFill>
                  <a:srgbClr val="166534"/>
                </a:solidFill>
                <a:latin typeface="Noto Sans TC Medium"/>
              </a:rPr>
              <a:t>！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6533" y="4369593"/>
            <a:ext cx="118616" cy="152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1485" y="4369593"/>
            <a:ext cx="118616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76537"/>
            <a:ext cx="5334000" cy="20764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776537"/>
            <a:ext cx="5334000" cy="20764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538162"/>
            <a:ext cx="276820" cy="3619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5350" y="3100387"/>
            <a:ext cx="1243458" cy="247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95350" y="3443287"/>
            <a:ext cx="4920615" cy="304800"/>
          </a:xfrm>
          <a:prstGeom prst="rect">
            <a:avLst/>
          </a:prstGeom>
          <a:noFill/>
        </p:spPr>
        <p:txBody>
          <a:bodyPr wrap="square" lIns="177849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991B1B"/>
                </a:solidFill>
                <a:latin typeface="Noto Sans TC"/>
              </a:rPr>
              <a:t>A. 閉書考 (Closed-Book)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5350" y="3900487"/>
            <a:ext cx="46863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7F1D1D"/>
                </a:solidFill>
                <a:latin typeface="Noto Sans TC"/>
              </a:rPr>
              <a:t>死背硬記所有訓練資料。一旦遇到沒學過或忘記的題目，為了湊答案只能</a:t>
            </a:r>
            <a:r>
              <a:rPr sz="1350" b="1" i="0" u="none">
                <a:solidFill>
                  <a:srgbClr val="DC2626"/>
                </a:solidFill>
                <a:latin typeface="Noto Sans TC"/>
              </a:rPr>
              <a:t>憑空瞎掰（產生幻覺）</a:t>
            </a:r>
            <a:r>
              <a:rPr sz="1350" b="0" i="0" u="none">
                <a:solidFill>
                  <a:srgbClr val="7F1D1D"/>
                </a:solidFill>
                <a:latin typeface="Noto Sans TC"/>
              </a:rPr>
              <a:t>。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0350" y="3100387"/>
            <a:ext cx="1362075" cy="2476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10350" y="3443287"/>
            <a:ext cx="4920615" cy="304800"/>
          </a:xfrm>
          <a:prstGeom prst="rect">
            <a:avLst/>
          </a:prstGeom>
          <a:noFill/>
        </p:spPr>
        <p:txBody>
          <a:bodyPr wrap="square" lIns="177849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65F46"/>
                </a:solidFill>
                <a:latin typeface="Noto Sans TC"/>
              </a:rPr>
              <a:t>B. 開書考 (Open-Book)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10350" y="3900487"/>
            <a:ext cx="46863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14532D"/>
                </a:solidFill>
                <a:latin typeface="Noto Sans TC"/>
              </a:rPr>
              <a:t>允許翻閱最新的講義與文件。先精準查出重點，再</a:t>
            </a:r>
            <a:r>
              <a:rPr sz="1350" b="1" i="0" u="none">
                <a:solidFill>
                  <a:srgbClr val="059669"/>
                </a:solidFill>
                <a:latin typeface="Noto Sans TC"/>
              </a:rPr>
              <a:t>照著參考資料回答</a:t>
            </a:r>
            <a:r>
              <a:rPr sz="1350" b="0" i="0" u="none">
                <a:solidFill>
                  <a:srgbClr val="14532D"/>
                </a:solidFill>
                <a:latin typeface="Noto Sans TC"/>
              </a:rPr>
              <a:t>，精準又誠實！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5350" y="3481387"/>
            <a:ext cx="177849" cy="2286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10350" y="3481387"/>
            <a:ext cx="177849" cy="228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62620" y="476250"/>
            <a:ext cx="11190773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Noto Sans TC"/>
              </a:rPr>
              <a:t>課堂破冰：你最討厭哪種考試？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005012"/>
            <a:ext cx="5334000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38162"/>
            <a:ext cx="276820" cy="3619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76300" y="2005012"/>
            <a:ext cx="502920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1" i="0" u="none">
                <a:solidFill>
                  <a:srgbClr val="334155"/>
                </a:solidFill>
                <a:latin typeface="Noto Sans TC"/>
              </a:rPr>
              <a:t>R - Retrieval (檢索)</a:t>
            </a:r>
            <a:r>
              <a:t>
</a:t>
            </a:r>
            <a:r>
              <a:rPr sz="1425" b="0" i="0" u="none">
                <a:solidFill>
                  <a:srgbClr val="334155"/>
                </a:solidFill>
                <a:latin typeface="Noto Sans TC"/>
              </a:rPr>
              <a:t> 接到問題時，先去外部專屬資料庫找出最相關的參考文件。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2719387"/>
            <a:ext cx="502920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1" i="0" u="none">
                <a:solidFill>
                  <a:srgbClr val="334155"/>
                </a:solidFill>
                <a:latin typeface="Noto Sans TC"/>
              </a:rPr>
              <a:t>A - Augmented (增強)</a:t>
            </a:r>
            <a:r>
              <a:t>
</a:t>
            </a:r>
            <a:r>
              <a:rPr sz="1425" b="0" i="0" u="none">
                <a:solidFill>
                  <a:srgbClr val="334155"/>
                </a:solidFill>
                <a:latin typeface="Noto Sans TC"/>
              </a:rPr>
              <a:t> 把查到的最新資料連同問題一起塞給 AI，即時補充背景知識。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3433762"/>
            <a:ext cx="502920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1" i="0" u="none">
                <a:solidFill>
                  <a:srgbClr val="334155"/>
                </a:solidFill>
                <a:latin typeface="Noto Sans TC"/>
              </a:rPr>
              <a:t>G - Generation (生成)</a:t>
            </a:r>
            <a:r>
              <a:t>
</a:t>
            </a:r>
            <a:r>
              <a:rPr sz="1425" b="0" i="0" u="none">
                <a:solidFill>
                  <a:srgbClr val="334155"/>
                </a:solidFill>
                <a:latin typeface="Noto Sans TC"/>
              </a:rPr>
              <a:t> 讓 AI 嚴格根據資料摘要寫出正確答案，不再胡編亂造。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rcRect l="16008" r="16060"/>
          <a:stretch>
            <a:fillRect/>
          </a:stretch>
        </p:blipFill>
        <p:spPr>
          <a:xfrm>
            <a:off x="6286500" y="962025"/>
            <a:ext cx="5435065" cy="5419822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028825"/>
            <a:ext cx="133498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2743200"/>
            <a:ext cx="133498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3457575"/>
            <a:ext cx="133498" cy="2000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62620" y="476250"/>
            <a:ext cx="11190773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Noto Sans TC"/>
              </a:rPr>
              <a:t>什麼是 RAG？—— AI 的專屬圖書館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860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005012"/>
            <a:ext cx="5334000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38162"/>
            <a:ext cx="276820" cy="3619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76300" y="2005012"/>
            <a:ext cx="502920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1" i="0" u="none">
                <a:solidFill>
                  <a:srgbClr val="334155"/>
                </a:solidFill>
                <a:latin typeface="Noto Sans TC"/>
              </a:rPr>
              <a:t>切塊 (Chunking)</a:t>
            </a:r>
            <a:r>
              <a:t>
</a:t>
            </a:r>
            <a:r>
              <a:rPr sz="1425" b="0" i="0" u="none">
                <a:solidFill>
                  <a:srgbClr val="334155"/>
                </a:solidFill>
                <a:latin typeface="Noto Sans TC"/>
              </a:rPr>
              <a:t> 將厚重的原文課本與文件切成一小段一小段的知識方塊。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2719387"/>
            <a:ext cx="502920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1" i="0" u="none">
                <a:solidFill>
                  <a:srgbClr val="334155"/>
                </a:solidFill>
                <a:latin typeface="Noto Sans TC"/>
              </a:rPr>
              <a:t>貼標籤 (Embedding)</a:t>
            </a:r>
            <a:r>
              <a:t>
</a:t>
            </a:r>
            <a:r>
              <a:rPr sz="1425" b="0" i="0" u="none">
                <a:solidFill>
                  <a:srgbClr val="334155"/>
                </a:solidFill>
                <a:latin typeface="Noto Sans TC"/>
              </a:rPr>
              <a:t> 利用向量技術將文字段落轉換成數字條碼，捕捉深層語意。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3433762"/>
            <a:ext cx="502920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1" i="0" u="none">
                <a:solidFill>
                  <a:srgbClr val="334155"/>
                </a:solidFill>
                <a:latin typeface="Noto Sans TC"/>
              </a:rPr>
              <a:t>存入倉庫 (Vector DB)</a:t>
            </a:r>
            <a:r>
              <a:t>
</a:t>
            </a:r>
            <a:r>
              <a:rPr sz="1425" b="0" i="0" u="none">
                <a:solidFill>
                  <a:srgbClr val="334155"/>
                </a:solidFill>
                <a:latin typeface="Noto Sans TC"/>
              </a:rPr>
              <a:t> 儲存至高速向量資料庫，隨時等待秒級精準搜尋。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7780" y="1410902"/>
            <a:ext cx="6337830" cy="4293369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028825"/>
            <a:ext cx="133498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2743200"/>
            <a:ext cx="133498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3457575"/>
            <a:ext cx="133498" cy="2000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62620" y="476250"/>
            <a:ext cx="11190773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Noto Sans TC"/>
              </a:rPr>
              <a:t>Step 1：蓋一座超級圖書館 (Indexing)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930872"/>
            <a:ext cx="5334000" cy="176778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930872"/>
            <a:ext cx="5334000" cy="176778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538162"/>
            <a:ext cx="276820" cy="3619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95350" y="3254722"/>
            <a:ext cx="4920615" cy="304800"/>
          </a:xfrm>
          <a:prstGeom prst="rect">
            <a:avLst/>
          </a:prstGeom>
          <a:noFill/>
        </p:spPr>
        <p:txBody>
          <a:bodyPr wrap="square" lIns="177849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59669"/>
                </a:solidFill>
                <a:latin typeface="Noto Sans TC"/>
              </a:rPr>
              <a:t>當使用者提問...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5350" y="3711922"/>
            <a:ext cx="46863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34155"/>
                </a:solidFill>
                <a:latin typeface="Noto Sans TC"/>
              </a:rPr>
              <a:t>當你詢問：「</a:t>
            </a:r>
            <a:r>
              <a:rPr sz="1350" b="1" i="0" u="none">
                <a:solidFill>
                  <a:srgbClr val="334155"/>
                </a:solidFill>
                <a:latin typeface="Noto Sans TC"/>
              </a:rPr>
              <a:t>學校今天午餐吃什麼？</a:t>
            </a:r>
            <a:r>
              <a:rPr sz="1350" b="0" i="0" u="none">
                <a:solidFill>
                  <a:srgbClr val="334155"/>
                </a:solidFill>
                <a:latin typeface="Noto Sans TC"/>
              </a:rPr>
              <a:t>」</a:t>
            </a:r>
            <a:r>
              <a:t>
</a:t>
            </a:r>
            <a:r>
              <a:rPr sz="1350" b="0" i="0" u="none">
                <a:solidFill>
                  <a:srgbClr val="334155"/>
                </a:solidFill>
                <a:latin typeface="Noto Sans TC"/>
              </a:rPr>
              <a:t> 系統會將你的問題同步轉換為數字向量條碼。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10350" y="3254722"/>
            <a:ext cx="4920615" cy="304800"/>
          </a:xfrm>
          <a:prstGeom prst="rect">
            <a:avLst/>
          </a:prstGeom>
          <a:noFill/>
        </p:spPr>
        <p:txBody>
          <a:bodyPr wrap="square" lIns="177849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65F46"/>
                </a:solidFill>
                <a:latin typeface="Noto Sans TC"/>
              </a:rPr>
              <a:t>語意磁鐵秒比對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10350" y="3711922"/>
            <a:ext cx="46863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14532D"/>
                </a:solidFill>
                <a:latin typeface="Noto Sans TC"/>
              </a:rPr>
              <a:t>在幾萬頁文件倉庫中，像超級磁鐵般瞬間抓出距離最近、包含「</a:t>
            </a:r>
            <a:r>
              <a:rPr sz="1350" b="1" i="0" u="none">
                <a:solidFill>
                  <a:srgbClr val="14532D"/>
                </a:solidFill>
                <a:latin typeface="Noto Sans TC"/>
              </a:rPr>
              <a:t>午餐、本日菜單</a:t>
            </a:r>
            <a:r>
              <a:rPr sz="1350" b="0" i="0" u="none">
                <a:solidFill>
                  <a:srgbClr val="14532D"/>
                </a:solidFill>
                <a:latin typeface="Noto Sans TC"/>
              </a:rPr>
              <a:t>」的精準頁面！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5350" y="3292822"/>
            <a:ext cx="177849" cy="2286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0350" y="3292822"/>
            <a:ext cx="177849" cy="228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62620" y="476250"/>
            <a:ext cx="11190773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Noto Sans TC"/>
              </a:rPr>
              <a:t>Step 2：在幾百萬本書裡秒找答案 (Retrieval)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005012"/>
            <a:ext cx="5334000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38162"/>
            <a:ext cx="276820" cy="3619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76300" y="2005012"/>
            <a:ext cx="5029200" cy="8143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1" i="0" u="none">
                <a:solidFill>
                  <a:srgbClr val="334155"/>
                </a:solidFill>
                <a:latin typeface="Noto Sans TC"/>
              </a:rPr>
              <a:t>嚴格指令下達</a:t>
            </a:r>
            <a:r>
              <a:t>
</a:t>
            </a:r>
            <a:r>
              <a:rPr sz="1425" b="0" i="0" u="none">
                <a:solidFill>
                  <a:srgbClr val="334155"/>
                </a:solidFill>
                <a:latin typeface="Noto Sans TC"/>
              </a:rPr>
              <a:t> 指令：「請嚴格根據以下提供的參考資料回答問題，</a:t>
            </a:r>
            <a:r>
              <a:rPr sz="1425" b="1" i="0" u="none">
                <a:solidFill>
                  <a:srgbClr val="DC2626"/>
                </a:solidFill>
                <a:latin typeface="Noto Sans TC"/>
              </a:rPr>
              <a:t>禁止使用自己的記憶想像</a:t>
            </a:r>
            <a:r>
              <a:rPr sz="1425" b="0" i="0" u="none">
                <a:solidFill>
                  <a:srgbClr val="334155"/>
                </a:solidFill>
                <a:latin typeface="Noto Sans TC"/>
              </a:rPr>
              <a:t>！」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2990850"/>
            <a:ext cx="5029200" cy="8143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1" i="0" u="none">
                <a:solidFill>
                  <a:srgbClr val="334155"/>
                </a:solidFill>
                <a:latin typeface="Noto Sans TC"/>
              </a:rPr>
              <a:t>附帶來源出處</a:t>
            </a:r>
            <a:r>
              <a:t>
</a:t>
            </a:r>
            <a:r>
              <a:rPr sz="1425" b="0" i="0" u="none">
                <a:solidFill>
                  <a:srgbClr val="334155"/>
                </a:solidFill>
                <a:latin typeface="Noto Sans TC"/>
              </a:rPr>
              <a:t> AI 變得極其誠實，會主動標註：「根據菜單公告第 2 頁，今日午餐為...」。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3976687"/>
            <a:ext cx="502920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1" i="0" u="none">
                <a:solidFill>
                  <a:srgbClr val="334155"/>
                </a:solidFill>
                <a:latin typeface="Noto Sans TC"/>
              </a:rPr>
              <a:t>杜絕不實幻覺</a:t>
            </a:r>
            <a:r>
              <a:t>
</a:t>
            </a:r>
            <a:r>
              <a:rPr sz="1425" b="0" i="0" u="none">
                <a:solidFill>
                  <a:srgbClr val="334155"/>
                </a:solidFill>
                <a:latin typeface="Noto Sans TC"/>
              </a:rPr>
              <a:t> 確保產出的每一句話都可以在原始文件中找到相應依據。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6025" y="2014537"/>
            <a:ext cx="5314950" cy="36004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028825"/>
            <a:ext cx="133498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3014662"/>
            <a:ext cx="133498" cy="2000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62620" y="476250"/>
            <a:ext cx="11190773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Noto Sans TC"/>
              </a:rPr>
              <a:t>Step 3：有憑有據寫答案 (Generation)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24125"/>
            <a:ext cx="3530649" cy="25812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49" y="2524125"/>
            <a:ext cx="3530649" cy="25812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2524125"/>
            <a:ext cx="3530649" cy="25812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538162"/>
            <a:ext cx="276820" cy="3619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250" y="2809875"/>
            <a:ext cx="533400" cy="533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57250" y="3533775"/>
            <a:ext cx="1431428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Noto Sans TC"/>
              </a:rPr>
              <a:t>知識最新鮮 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3933825"/>
            <a:ext cx="2959149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Noto Sans TC"/>
              </a:rPr>
              <a:t>無須花費高昂代價重新訓練模型，直接更新外部文件庫，AI 立刻掌握最新資訊。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16499" y="2809875"/>
            <a:ext cx="533400" cy="533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16499" y="3533775"/>
            <a:ext cx="1431428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Noto Sans TC"/>
              </a:rPr>
              <a:t>回覆最誠實 🛡️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6499" y="3933825"/>
            <a:ext cx="2959149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Noto Sans TC"/>
              </a:rPr>
              <a:t>提供清晰的資料來源與引用頁碼，讓使用者隨時可進行人工交叉驗證。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75749" y="2809875"/>
            <a:ext cx="533400" cy="533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375749" y="3533775"/>
            <a:ext cx="1431428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Noto Sans TC"/>
              </a:rPr>
              <a:t>成本最便宜 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75749" y="3933825"/>
            <a:ext cx="2959149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Noto Sans TC"/>
              </a:rPr>
              <a:t>相比於微調 (Fine-tuning) 大模型，RAG 架構更輕量、開發快且經濟實惠。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79466" y="2943225"/>
            <a:ext cx="207466" cy="2667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38716" y="2943225"/>
            <a:ext cx="207466" cy="2667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62620" y="476250"/>
            <a:ext cx="11190773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Noto Sans TC"/>
              </a:rPr>
              <a:t>為什麼我們需要 RAG？三大核心優勢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62620" y="476250"/>
            <a:ext cx="5190023" cy="971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Noto Sans TC"/>
              </a:rPr>
              <a:t>高手怎麼玩 RAG？兩大進階絕招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0"/>
            <a:ext cx="5905500" cy="6858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781050"/>
            <a:ext cx="276820" cy="3619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3082379"/>
            <a:ext cx="53340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334155"/>
                </a:solidFill>
                <a:latin typeface="Noto Sans TC"/>
              </a:rPr>
              <a:t>1. 混合搜尋 (Hybrid Search) 🔀</a:t>
            </a:r>
            <a:r>
              <a:t>
</a:t>
            </a:r>
            <a:r>
              <a:rPr sz="1350" b="0" i="0" u="none">
                <a:solidFill>
                  <a:srgbClr val="334155"/>
                </a:solidFill>
                <a:latin typeface="Noto Sans TC"/>
              </a:rPr>
              <a:t> 結合傳統關鍵字搜尋（精準匹配人名代號）與語意向量搜尋（理解上下文意思），雙重保險不漏抓！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4057650"/>
            <a:ext cx="53340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334155"/>
                </a:solidFill>
                <a:latin typeface="Noto Sans TC"/>
              </a:rPr>
              <a:t>2. 重排序 (Re-ranking) 🎯</a:t>
            </a:r>
            <a:r>
              <a:t>
</a:t>
            </a:r>
            <a:r>
              <a:rPr sz="1350" b="0" i="0" u="none">
                <a:solidFill>
                  <a:srgbClr val="334155"/>
                </a:solidFill>
                <a:latin typeface="Noto Sans TC"/>
              </a:rPr>
              <a:t> 初步抓出前 50 筆資料後，再由高階模型重新仔細評分，過濾雜質、僅挑選最精華的前 3 筆交給 AI。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005012"/>
            <a:ext cx="5334000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38162"/>
            <a:ext cx="276820" cy="3619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6025" y="2014537"/>
            <a:ext cx="5314950" cy="36004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150" y="2336006"/>
            <a:ext cx="237083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150" y="3455193"/>
            <a:ext cx="237083" cy="304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9150" y="4574381"/>
            <a:ext cx="237083" cy="30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208633" y="2252662"/>
            <a:ext cx="4350543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Noto Sans TC"/>
              </a:rPr>
              <a:t>企業智慧客服 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8633" y="2509837"/>
            <a:ext cx="4143375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334155"/>
                </a:solidFill>
                <a:latin typeface="Noto Sans TC"/>
              </a:rPr>
              <a:t>自動讀完數百頁員工手冊與產品說明書，精準解答客戶疑難雜症。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8633" y="3371850"/>
            <a:ext cx="3900487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Noto Sans TC"/>
              </a:rPr>
              <a:t>法律專屬助手 ⚖️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8633" y="3629025"/>
            <a:ext cx="371475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334155"/>
                </a:solidFill>
                <a:latin typeface="Noto Sans TC"/>
              </a:rPr>
              <a:t>快速檢索數萬件歷史判例與六法全書，協助律師起草訴狀。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8633" y="4491037"/>
            <a:ext cx="398393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Noto Sans TC"/>
              </a:rPr>
              <a:t>個人學習家教 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8633" y="4748212"/>
            <a:ext cx="3794224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334155"/>
                </a:solidFill>
                <a:latin typeface="Noto Sans TC"/>
              </a:rPr>
              <a:t>吃下整學期 PDF 講義，自動猜題並指引複習課本特定頁數。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2620" y="476250"/>
            <a:ext cx="11190773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Noto Sans TC"/>
              </a:rPr>
              <a:t>到處都是 RAG！實際生活與產業應用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0" y="1885950"/>
            <a:ext cx="6858000" cy="11525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5275" y="476250"/>
            <a:ext cx="116014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0F172A"/>
                </a:solidFill>
                <a:latin typeface="Noto Sans TC"/>
              </a:rPr>
              <a:t>🎓 掌握 AI 的「開書考」神器！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1276350"/>
            <a:ext cx="110490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925"/>
              </a:lnSpc>
            </a:pPr>
            <a:r>
              <a:rPr sz="1950" b="1" i="0" u="none">
                <a:solidFill>
                  <a:srgbClr val="059669"/>
                </a:solidFill>
                <a:latin typeface="Noto Sans TC"/>
              </a:rPr>
              <a:t>「AI 的記憶有限，但外部資料庫的知識無限！」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67000" y="1885950"/>
            <a:ext cx="6858000" cy="236796"/>
          </a:xfrm>
          <a:prstGeom prst="rect">
            <a:avLst/>
          </a:prstGeom>
          <a:noFill/>
        </p:spPr>
        <p:txBody>
          <a:bodyPr wrap="square" lIns="133498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350" b="1" dirty="0">
                <a:solidFill>
                  <a:srgbClr val="065F46"/>
                </a:solidFill>
                <a:latin typeface="Noto Sans TC"/>
              </a:rPr>
              <a:t> </a:t>
            </a:r>
            <a:r>
              <a:rPr sz="1350" b="1" i="0" u="none" dirty="0" err="1">
                <a:solidFill>
                  <a:srgbClr val="065F46"/>
                </a:solidFill>
                <a:latin typeface="Noto Sans TC"/>
              </a:rPr>
              <a:t>探索小任務</a:t>
            </a:r>
            <a:r>
              <a:rPr sz="1350" b="1" i="0" u="none" dirty="0">
                <a:solidFill>
                  <a:srgbClr val="065F46"/>
                </a:solidFill>
                <a:latin typeface="Noto Sans TC"/>
              </a:rPr>
              <a:t>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67000" y="2238375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14532D"/>
                </a:solidFill>
                <a:latin typeface="Noto Sans TC"/>
              </a:rPr>
              <a:t>1. 體驗一個支援 RAG 的工具（例如 Dify 或 NotebookLM / AI PDF 閱讀器）。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67000" y="2524125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14532D"/>
                </a:solidFill>
                <a:latin typeface="Noto Sans TC"/>
              </a:rPr>
              <a:t>2. 上傳一份複雜的說明書，試著問它一個細節問題。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67000" y="2809875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14532D"/>
                </a:solidFill>
                <a:latin typeface="Noto Sans TC"/>
              </a:rPr>
              <a:t>3. 檢查答案有沒有標註引用「第幾頁」！試驗看看『查得準，才叫強！』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7000" y="1924050"/>
            <a:ext cx="133498" cy="1714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355</Words>
  <Application>Microsoft Macintosh PowerPoint</Application>
  <PresentationFormat>寬螢幕</PresentationFormat>
  <Paragraphs>50</Paragraphs>
  <Slides>10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5" baseType="lpstr">
      <vt:lpstr>Noto Sans TC</vt:lpstr>
      <vt:lpstr>Noto Sans TC Medium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Hsuan-Che Yang</cp:lastModifiedBy>
  <cp:revision>2</cp:revision>
  <dcterms:created xsi:type="dcterms:W3CDTF">2013-01-27T09:14:16Z</dcterms:created>
  <dcterms:modified xsi:type="dcterms:W3CDTF">2026-07-30T02:23:02Z</dcterms:modified>
  <cp:category/>
</cp:coreProperties>
</file>
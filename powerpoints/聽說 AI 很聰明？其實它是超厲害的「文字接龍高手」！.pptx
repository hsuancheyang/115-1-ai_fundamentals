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32"/>
  </p:normalViewPr>
  <p:slideViewPr>
    <p:cSldViewPr snapToGrid="0" snapToObjects="1">
      <p:cViewPr varScale="1">
        <p:scale>
          <a:sx n="133" d="100"/>
          <a:sy n="133" d="100"/>
        </p:scale>
        <p:origin x="2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7929" y="1767141"/>
            <a:ext cx="8835992" cy="1922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440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聽說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AI </a:t>
            </a:r>
            <a:r>
              <a:rPr sz="440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很聰明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r>
              <a:rPr sz="4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
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sz="440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其實它是「文字接龍高手</a:t>
            </a:r>
            <a:r>
              <a:rPr sz="440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1" y="3943350"/>
            <a:ext cx="369584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 err="1">
                <a:solidFill>
                  <a:srgbClr val="475569"/>
                </a:solidFill>
                <a:latin typeface="Noto Sans TC Medium"/>
              </a:rPr>
              <a:t>大型語言模型</a:t>
            </a:r>
            <a:r>
              <a:rPr sz="1800" b="0" i="0" u="none" dirty="0">
                <a:solidFill>
                  <a:srgbClr val="475569"/>
                </a:solidFill>
                <a:latin typeface="Noto Sans TC Medium"/>
              </a:rPr>
              <a:t> (LLM) </a:t>
            </a:r>
            <a:r>
              <a:rPr sz="1800" b="0" i="0" u="none" dirty="0" err="1">
                <a:solidFill>
                  <a:srgbClr val="475569"/>
                </a:solidFill>
                <a:latin typeface="Noto Sans TC Medium"/>
              </a:rPr>
              <a:t>運作原理大揭密</a:t>
            </a:r>
            <a:endParaRPr sz="1800" b="0" i="0" u="none" dirty="0">
              <a:solidFill>
                <a:srgbClr val="475569"/>
              </a:solidFill>
              <a:latin typeface="Noto Sans TC Medium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38" y="4605036"/>
            <a:ext cx="2615774" cy="447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509" y="4695824"/>
            <a:ext cx="2370832" cy="200025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64748B"/>
                </a:solidFill>
                <a:latin typeface="Noto Sans TC Medium"/>
              </a:rPr>
              <a:t>解開</a:t>
            </a:r>
            <a:r>
              <a:rPr sz="1200" b="0" i="0" u="none" dirty="0">
                <a:solidFill>
                  <a:srgbClr val="64748B"/>
                </a:solidFill>
                <a:latin typeface="Noto Sans TC Medium"/>
              </a:rPr>
              <a:t> AI </a:t>
            </a:r>
            <a:r>
              <a:rPr sz="1200" b="0" i="0" u="none" dirty="0" err="1">
                <a:solidFill>
                  <a:srgbClr val="64748B"/>
                </a:solidFill>
                <a:latin typeface="Noto Sans TC Medium"/>
              </a:rPr>
              <a:t>迷思，掌握正確使用心態</a:t>
            </a:r>
            <a:endParaRPr sz="1200" b="0" i="0" u="none" dirty="0">
              <a:solidFill>
                <a:srgbClr val="64748B"/>
              </a:solidFill>
              <a:latin typeface="Noto Sans T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1287"/>
            <a:ext cx="542925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681287"/>
            <a:ext cx="542925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0012"/>
            <a:ext cx="542925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910012"/>
            <a:ext cx="5429250" cy="103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289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928937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1576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415766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50" y="2928937"/>
            <a:ext cx="3200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Noto Sans TC"/>
              </a:rPr>
              <a:t>寫程式作業</a:t>
            </a:r>
            <a:r>
              <a:rPr sz="1500" b="1" i="0" u="none" dirty="0">
                <a:solidFill>
                  <a:srgbClr val="0F172A"/>
                </a:solidFill>
                <a:latin typeface="Noto Sans TC"/>
              </a:rPr>
              <a:t> / </a:t>
            </a:r>
            <a:r>
              <a:rPr sz="1500" b="1" i="0" u="none" dirty="0" err="1">
                <a:solidFill>
                  <a:srgbClr val="0F172A"/>
                </a:solidFill>
                <a:latin typeface="Noto Sans TC"/>
              </a:rPr>
              <a:t>抓</a:t>
            </a:r>
            <a:r>
              <a:rPr sz="1500" b="1" i="0" u="none" dirty="0">
                <a:solidFill>
                  <a:srgbClr val="0F172A"/>
                </a:solidFill>
                <a:latin typeface="Noto Sans TC"/>
              </a:rPr>
              <a:t> Bug 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3243262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334155"/>
                </a:solidFill>
                <a:latin typeface="Noto Sans TC"/>
              </a:rPr>
              <a:t>協助產生程式碼片段、尋找語法錯誤與偵錯</a:t>
            </a:r>
            <a:r>
              <a:rPr sz="1200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2928937"/>
            <a:ext cx="3200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寫英文信或潤飾文章 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3243262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進行語氣調整、文法修正與文章流暢度提升。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50" y="4157662"/>
            <a:ext cx="256032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當心靈雞湯、純聊天 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" y="4471987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傾聽煩惱、聊聊天或提供生活建議。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4157662"/>
            <a:ext cx="376062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B45309"/>
                </a:solidFill>
                <a:latin typeface="Noto Sans TC"/>
              </a:rPr>
              <a:t>查科學原理或歷史事實 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4471987"/>
            <a:ext cx="35815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78350F"/>
                </a:solidFill>
                <a:latin typeface="Noto Sans TC"/>
              </a:rPr>
              <a:t>這是最危險的陷阱！</a:t>
            </a:r>
            <a:r>
              <a:rPr sz="1200" b="0" i="0" u="none">
                <a:solidFill>
                  <a:srgbClr val="78350F"/>
                </a:solidFill>
                <a:latin typeface="Noto Sans TC"/>
              </a:rPr>
              <a:t> AI 經常會一本正經地胡說八道。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課堂調查：你平常都怎麼用 ChatGPT？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Noto Sans TC"/>
              </a:rPr>
              <a:t>詞彙拆解</a:t>
            </a:r>
            <a:r>
              <a:rPr sz="1425" b="1" i="0" u="none" dirty="0">
                <a:solidFill>
                  <a:srgbClr val="334155"/>
                </a:solidFill>
                <a:latin typeface="Noto Sans TC"/>
              </a:rPr>
              <a:t> (Tokenization)</a:t>
            </a:r>
            <a:r>
              <a:rPr dirty="0"/>
              <a:t>
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把「今天天氣很好」拆解成單詞塊（Tokens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700337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數字加密 (Embedding)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將 Token 轉換為高維度的「數字密碼向量」。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95662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語意星空地圖 (Semantic Map)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在維度空間中，意思相近的字詞（如：貓與狗）距離會住得非常近！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19475"/>
            <a:ext cx="133498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76250"/>
            <a:ext cx="1148143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招式一：電腦如何看懂人話？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620" y="476250"/>
            <a:ext cx="519002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Noto Sans TC"/>
              </a:rPr>
              <a:t>招式二：終極文字接龍</a:t>
            </a:r>
            <a:endParaRPr sz="2850" b="1" i="0" u="none" dirty="0">
              <a:solidFill>
                <a:srgbClr val="0F172A"/>
              </a:solidFill>
              <a:latin typeface="Noto Sans T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551" y="2687091"/>
            <a:ext cx="5181748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自迴歸生成 (Autoregressive Generation)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551" y="3113782"/>
            <a:ext cx="5181748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AI 寫文章並非一次生成全文，而是一步一腳印、</a:t>
            </a:r>
            <a:r>
              <a:rPr sz="1350" b="1" i="0" u="none">
                <a:solidFill>
                  <a:srgbClr val="0284C7"/>
                </a:solidFill>
                <a:latin typeface="Noto Sans TC"/>
              </a:rPr>
              <a:t>一次只吐出一個字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551" y="3540472"/>
            <a:ext cx="5181748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運作範例：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551" y="3967162"/>
            <a:ext cx="5181748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1. 輸入：「今天 天氣 很」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2. 預測機率最高的字：</a:t>
            </a:r>
            <a:r>
              <a:rPr sz="1350" b="1" i="0" u="none">
                <a:solidFill>
                  <a:srgbClr val="0284C7"/>
                </a:solidFill>
                <a:latin typeface="Noto Sans TC"/>
              </a:rPr>
              <a:t>「好」(95%)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3. 組合新題目：「今天 天氣 很 好」➡️ 繼續猜下一個字！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7C50D44-5674-1B88-2F0B-5D269281E355}"/>
              </a:ext>
            </a:extLst>
          </p:cNvPr>
          <p:cNvSpPr txBox="1"/>
          <p:nvPr/>
        </p:nvSpPr>
        <p:spPr>
          <a:xfrm>
            <a:off x="962620" y="499846"/>
            <a:ext cx="5190023" cy="438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招式</a:t>
            </a:r>
            <a:r>
              <a:rPr lang="en-US" sz="2850" b="1" dirty="0" err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三</a:t>
            </a:r>
            <a:r>
              <a:rPr sz="285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2850" b="1" i="0" u="none" dirty="0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語法流暢最優先</a:t>
            </a:r>
            <a:endParaRPr sz="2850" b="1" i="0" u="none" dirty="0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" name="Picture 4" descr="image.png">
            <a:extLst>
              <a:ext uri="{FF2B5EF4-FFF2-40B4-BE49-F238E27FC236}">
                <a16:creationId xmlns:a16="http://schemas.microsoft.com/office/drawing/2014/main" id="{641FF61A-110C-9C93-DE68-E088F34A9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1F26245B-493B-3990-08EA-5B73A56EC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1287"/>
            <a:ext cx="5429250" cy="2237222"/>
          </a:xfrm>
          <a:prstGeom prst="rect">
            <a:avLst/>
          </a:prstGeom>
        </p:spPr>
      </p:pic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2840F541-79F2-D4AD-EC0A-C9B269522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538" y="2681287"/>
            <a:ext cx="5429250" cy="2429728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0D015197-EDBA-E24D-3E64-47982A5A1731}"/>
              </a:ext>
            </a:extLst>
          </p:cNvPr>
          <p:cNvSpPr txBox="1"/>
          <p:nvPr/>
        </p:nvSpPr>
        <p:spPr>
          <a:xfrm>
            <a:off x="962620" y="3036720"/>
            <a:ext cx="16748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文字聯想機</a:t>
            </a:r>
            <a:endParaRPr sz="2000" b="1" i="0" u="none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7C371D8-FDAF-8215-1C75-F2D65F399687}"/>
              </a:ext>
            </a:extLst>
          </p:cNvPr>
          <p:cNvSpPr txBox="1"/>
          <p:nvPr/>
        </p:nvSpPr>
        <p:spPr>
          <a:xfrm>
            <a:off x="6824405" y="3007845"/>
            <a:ext cx="16748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2000" b="1" i="0" u="none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不是百科全書</a:t>
            </a:r>
            <a:endParaRPr sz="2000" b="1" i="0" u="none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AD12C3-2A18-432C-B2A2-77538637620D}"/>
              </a:ext>
            </a:extLst>
          </p:cNvPr>
          <p:cNvSpPr txBox="1"/>
          <p:nvPr/>
        </p:nvSpPr>
        <p:spPr>
          <a:xfrm>
            <a:off x="893288" y="3429000"/>
            <a:ext cx="3488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核心目標：極小化預測誤差（</a:t>
            </a:r>
            <a:r>
              <a:rPr kumimoji="1" lang="en-US" altLang="zh-TW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Loss</a:t>
            </a:r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78CC5CD-F670-1C23-7FDB-39D4C765D3A4}"/>
              </a:ext>
            </a:extLst>
          </p:cNvPr>
          <p:cNvSpPr txBox="1"/>
          <p:nvPr/>
        </p:nvSpPr>
        <p:spPr>
          <a:xfrm>
            <a:off x="6822450" y="3429000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缺乏真實查證機制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7266966-7B1C-A24D-E910-C5418CCD9287}"/>
              </a:ext>
            </a:extLst>
          </p:cNvPr>
          <p:cNvSpPr txBox="1"/>
          <p:nvPr/>
        </p:nvSpPr>
        <p:spPr>
          <a:xfrm>
            <a:off x="962620" y="3852057"/>
            <a:ext cx="4360244" cy="69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唯一的任務就是確保「這句話聽起來很順、很像人類會說的話」。它是基於龐大數據的</a:t>
            </a:r>
            <a:r>
              <a:rPr kumimoji="1" lang="zh-TW" altLang="en-US" sz="14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機率預測器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BC8281B-DB4A-BA0E-E09E-5570C9697F63}"/>
              </a:ext>
            </a:extLst>
          </p:cNvPr>
          <p:cNvSpPr txBox="1"/>
          <p:nvPr/>
        </p:nvSpPr>
        <p:spPr>
          <a:xfrm>
            <a:off x="6822450" y="3880932"/>
            <a:ext cx="4360244" cy="102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LLM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內部並不存在「事實資料庫」或查證按鈕。它僅依賴統計慣性生成文字，完全不關心文字背後的事實真偽。</a:t>
            </a:r>
          </a:p>
        </p:txBody>
      </p:sp>
    </p:spTree>
    <p:extLst>
      <p:ext uri="{BB962C8B-B14F-4D97-AF65-F5344CB8AC3E}">
        <p14:creationId xmlns:p14="http://schemas.microsoft.com/office/powerpoint/2010/main" val="76038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005012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傳統 AI 的痛點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記憶力像金魚，看到後面就忘記前面說了什麼。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00337"/>
            <a:ext cx="502920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偵探讀小說比喻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讀到「兇手是...」時，大腦會立刻閃回到前頁關鍵線索，自動忽略無關內容。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67125"/>
            <a:ext cx="5029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Noto Sans TC"/>
              </a:rPr>
              <a:t>Transformer 全域關注</a:t>
            </a:r>
            <a:r>
              <a:t>
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 允許 AI 隨時聯繫上下文的所有詞彙，精準抓出核心關聯！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28825"/>
            <a:ext cx="133498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24150"/>
            <a:ext cx="133498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90937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核心武器：注意力機制 (Attention)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2712"/>
            <a:ext cx="3530649" cy="232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52712"/>
            <a:ext cx="3530649" cy="2324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52712"/>
            <a:ext cx="3530649" cy="2324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938462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662362"/>
            <a:ext cx="167489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Noto Sans TC"/>
              </a:rPr>
              <a:t>Query (</a:t>
            </a:r>
            <a:r>
              <a:rPr sz="1650" b="1" i="0" u="none" dirty="0" err="1">
                <a:solidFill>
                  <a:srgbClr val="0F172A"/>
                </a:solidFill>
                <a:latin typeface="Noto Sans TC"/>
              </a:rPr>
              <a:t>Q，查詢</a:t>
            </a:r>
            <a:r>
              <a:rPr sz="1650" b="1" i="0" u="none" dirty="0">
                <a:solidFill>
                  <a:srgbClr val="0F172A"/>
                </a:solidFill>
                <a:latin typeface="Noto Sans TC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手電筒：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當前要處理的詞。就像拿著手電筒往回照，尋找相關線索。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499" y="293846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6499" y="3662362"/>
            <a:ext cx="143033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Key (K，鍵值)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49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資訊標籤：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之前每個詞身上貼的特徵標籤，等待被 Q 照射匹配。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749" y="293846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5749" y="3662362"/>
            <a:ext cx="136938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Value (V，值)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4062412"/>
            <a:ext cx="29591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實質寶藏：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詞彙包含的實際語意內容。匹配度越高，收穫越豐碩！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9466" y="3071812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8716" y="3071812"/>
            <a:ext cx="207466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Attention 的三大法寶：Q、K、V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019" y="2363688"/>
            <a:ext cx="4919960" cy="9114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3711"/>
            <a:ext cx="5334000" cy="1762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503711"/>
            <a:ext cx="5334000" cy="1762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669" y="2611338"/>
            <a:ext cx="4424660" cy="4161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50" y="3827561"/>
            <a:ext cx="492061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369A1"/>
                </a:solidFill>
                <a:latin typeface="Noto Sans TC"/>
              </a:rPr>
              <a:t>1. 計算匹配分數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313336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用手電筒（Q）照射標籤（K）進行內積計算，找出相關程度。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827561"/>
            <a:ext cx="492061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369A1"/>
                </a:solidFill>
                <a:latin typeface="Noto Sans TC"/>
              </a:rPr>
              <a:t>2. 歸一化與寶藏加權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4313336"/>
            <a:ext cx="4686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經由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Softmax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轉為總和 100% 的機率，再乘以寶藏（V）得到上下文精華。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620" y="476250"/>
            <a:ext cx="1119077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注意力公式白話文翻譯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620" y="476250"/>
            <a:ext cx="519002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Noto Sans TC"/>
              </a:rPr>
              <a:t>AI 為何會「一本正經胡說」？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8162"/>
            <a:ext cx="27682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2763291"/>
            <a:ext cx="5143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1. 統計相關 ≠ 因果邏輯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AI 知道「打雷」後面常接「閃電」，但不懂真實物理原理。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464272"/>
            <a:ext cx="5143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2. Softmax 的強迫選擇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即使沒有資料，Softmax 仍會硬湊出機率，假裝很有自信地瞎掰。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165252"/>
            <a:ext cx="5143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3. 骨牌效應 (Autoregressive Drift)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前面的年份寫錯，後續的字只能沿著錯誤繼續編造，無法回頭修正！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515" y="3371850"/>
            <a:ext cx="4410819" cy="1514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Noto Sans TC"/>
              </a:rPr>
              <a:t>🎓 做一個聰明的「AI 指揮官」！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333500"/>
            <a:ext cx="11049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1" i="0" u="none">
                <a:solidFill>
                  <a:srgbClr val="0284C7"/>
                </a:solidFill>
                <a:latin typeface="Noto Sans TC"/>
              </a:rPr>
              <a:t>「AI 是文字表達的文筆大師，但不是萬能的百科全書。」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4841" y="3483744"/>
            <a:ext cx="3782169" cy="314325"/>
          </a:xfrm>
          <a:prstGeom prst="rect">
            <a:avLst/>
          </a:prstGeom>
          <a:noFill/>
        </p:spPr>
        <p:txBody>
          <a:bodyPr wrap="square" lIns="16311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 err="1">
                <a:solidFill>
                  <a:srgbClr val="0F172A"/>
                </a:solidFill>
                <a:latin typeface="Noto Sans TC"/>
              </a:rPr>
              <a:t>下課前的小任務</a:t>
            </a:r>
            <a:r>
              <a:rPr sz="1650" b="1" i="0" u="none" dirty="0">
                <a:solidFill>
                  <a:srgbClr val="0F172A"/>
                </a:solidFill>
                <a:latin typeface="Noto Sans TC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4841" y="3874269"/>
            <a:ext cx="378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 Medium"/>
              </a:rPr>
              <a:t>1. 向 ChatGPT 提問一個你「確定不存在」的人或事物。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4841" y="4160019"/>
            <a:ext cx="378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 Medium"/>
              </a:rPr>
              <a:t>2. 觀察它是如何用極其自信的語氣編撰故事。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4841" y="4445769"/>
            <a:ext cx="378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TC Medium"/>
              </a:rPr>
              <a:t>3. 截圖分享到班級群組，比比看誰的 AI 編得最離譜！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158" y="3547913"/>
            <a:ext cx="163115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448</Words>
  <Application>Microsoft Macintosh PowerPoint</Application>
  <PresentationFormat>寬螢幕</PresentationFormat>
  <Paragraphs>54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Microsoft JhengHei</vt:lpstr>
      <vt:lpstr>Noto Sans TC</vt:lpstr>
      <vt:lpstr>Noto Sans TC Medium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Hsuan-Che Yang</cp:lastModifiedBy>
  <cp:revision>2</cp:revision>
  <dcterms:created xsi:type="dcterms:W3CDTF">2013-01-27T09:14:16Z</dcterms:created>
  <dcterms:modified xsi:type="dcterms:W3CDTF">2026-07-28T01:29:40Z</dcterms:modified>
  <cp:category/>
</cp:coreProperties>
</file>
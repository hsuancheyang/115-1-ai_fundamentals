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95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8B8EE1-5A5B-C74A-BA10-FF4A9DF62F8A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6B9282-DA4A-6C45-8E96-7E239D69BB2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9820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6B9282-DA4A-6C45-8E96-7E239D69BB2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2435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61C1C9-6CA5-2F61-0F6F-687CC7D10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4E683E8-EEEF-8555-AAFC-E6DAB39CD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0BBFFA-B9F5-265E-6255-7235CFD1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652433-32C7-D56A-A52E-BD0504D57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07168D-8B53-FAEE-B6F0-A617B01A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49286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83E764-0B50-87AD-9829-B30D983B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422AEF-D2BE-1AC0-760B-77651535C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25D266-1FFE-9F6F-D644-3CF754AA9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CD4876-228C-1810-B5C6-282DEE5DD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991818-F6AC-BFBD-E338-5F3BB8BF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76255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422AEF-D2BE-1AC0-760B-77651535C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55" y="136525"/>
            <a:ext cx="11712633" cy="6139583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25D266-1FFE-9F6F-D644-3CF754AA9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CD4876-228C-1810-B5C6-282DEE5DD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991818-F6AC-BFBD-E338-5F3BB8BF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1750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422AEF-D2BE-1AC0-760B-77651535C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55" y="136525"/>
            <a:ext cx="11712633" cy="613958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25D266-1FFE-9F6F-D644-3CF754AA9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CD4876-228C-1810-B5C6-282DEE5DD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991818-F6AC-BFBD-E338-5F3BB8BF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04105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55BE06-A63E-E7B2-EED3-0151BEAE4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56" y="1709738"/>
            <a:ext cx="1171263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8D4BA8-2730-FEF3-334E-C0D842B37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756" y="4589463"/>
            <a:ext cx="1171263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697A0C-1326-0B4B-11BB-9E015DFB3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63D44E-CEE0-E64F-EEBC-4169C9DF6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F5E20D-811E-A1EF-7168-20400FCD4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1015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00B37A-B730-49C4-A764-15A1D334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39611C-3922-0EEF-185E-6B36CDD2F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2756" y="1654233"/>
            <a:ext cx="5787044" cy="4638502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3AB4D6-54B5-D744-514E-78618CB33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4233"/>
            <a:ext cx="5773188" cy="4638502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971DD3-207E-4931-A7C3-22987AD7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80AABA-12EF-AC01-95D4-0AE8B5050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68F563-9B5D-54EC-A060-4025421E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61722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00B37A-B730-49C4-A764-15A1D334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39611C-3922-0EEF-185E-6B36CDD2F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2756" y="1654233"/>
            <a:ext cx="5787044" cy="4638502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3AB4D6-54B5-D744-514E-78618CB33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4233"/>
            <a:ext cx="5773188" cy="463850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971DD3-207E-4931-A7C3-22987AD7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80AABA-12EF-AC01-95D4-0AE8B5050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68F563-9B5D-54EC-A060-4025421E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21824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39611C-3922-0EEF-185E-6B36CDD2F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2756" y="252196"/>
            <a:ext cx="5787044" cy="6040539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3AB4D6-54B5-D744-514E-78618CB33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2196"/>
            <a:ext cx="5773188" cy="6040539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971DD3-207E-4931-A7C3-22987AD7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80AABA-12EF-AC01-95D4-0AE8B5050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68F563-9B5D-54EC-A060-4025421E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1672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39611C-3922-0EEF-185E-6B36CDD2F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2756" y="252196"/>
            <a:ext cx="5787044" cy="6040539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>
              <a:lnSpc>
                <a:spcPct val="100000"/>
              </a:lnSpc>
              <a:buNone/>
              <a:defRPr sz="1600"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3AB4D6-54B5-D744-514E-78618CB33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2196"/>
            <a:ext cx="5773188" cy="6040539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971DD3-207E-4931-A7C3-22987AD7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80AABA-12EF-AC01-95D4-0AE8B5050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68F563-9B5D-54EC-A060-4025421E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53299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0F307A-2B63-7204-70DE-60993E5FB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56" y="188913"/>
            <a:ext cx="11712632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FC3917-FD85-B395-633C-7FB32191C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756" y="1599811"/>
            <a:ext cx="57648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F41B89-F27B-1E00-FF11-FC4A83BDD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2756" y="2505075"/>
            <a:ext cx="5764820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692D800-48BE-5C3C-0E61-23C365495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99811"/>
            <a:ext cx="57648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29A0DC7-4727-492E-CCF7-0910ABF8E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764820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5B7A750-4493-6F02-B97C-55F65F09B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A58E13A-DCE1-AF90-3AAF-E674D6E8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1C02083-A30B-1382-4D1B-3C8EF410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3775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0F307A-2B63-7204-70DE-60993E5FB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56" y="188913"/>
            <a:ext cx="11712632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FC3917-FD85-B395-633C-7FB32191C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756" y="1599811"/>
            <a:ext cx="57648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F41B89-F27B-1E00-FF11-FC4A83BDD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2756" y="2505075"/>
            <a:ext cx="5764820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29A0DC7-4727-492E-CCF7-0910ABF8E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599811"/>
            <a:ext cx="5764820" cy="458985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5B7A750-4493-6F02-B97C-55F65F09B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A58E13A-DCE1-AF90-3AAF-E674D6E8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1C02083-A30B-1382-4D1B-3C8EF410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44946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24A2BA-9063-BDA7-221C-D1D4E4FF3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F6783EB-3A34-883D-05F2-501BFE5D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CA650E6-93C0-CC44-AEA3-9AF55C542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119DA6B-B498-D3CA-A4C0-FF6226FCB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8971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0FD2563-26BC-5E3B-BF24-6EB141678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7472A81-2FE3-FD7B-F4EE-C9A2142F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EC6B45-04CE-44C5-4C42-09D212F71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52934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6723EF-E545-BE36-6BD9-2B63246F4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E466F2-08C1-FBCE-F28A-97B800C99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59CA9B1-D289-CB1F-7B4E-3530253AE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1AC185A-6E7B-A921-C684-D2908D726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F66A074-647E-AC80-93CB-F4CEB71A8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D0227C1-0A47-649C-D6C1-39BCE523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42819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55A8C8-EF71-7727-057C-FD917CF76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F90661C-2C8F-2E29-D18B-49CE40D99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ACD2750-6067-7A8D-2F5D-582A90AB4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30BE79-296B-5020-0844-547469762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CBE81F0-3C3E-73D3-5FF3-EE29058E6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1EFF75B-65BE-076E-AB2F-64A447C4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93413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32F1C1-B2C6-21CD-34AE-CE0C36908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39493FE-D4F1-7728-C958-002351F04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5B4E77-CA5F-3B91-B4BB-41E2A3D08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24EB18-BF1E-15CA-8E9C-4C0D1A3ED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088A1F-2EFC-B160-ED92-1B34FF28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00920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226EDD-3DB4-7460-1C65-774255225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61A870F-1C6D-72B1-4C86-9C781AB3C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34E2F2-001C-7032-194B-1E4E2546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D176-C48C-784F-B433-484D39C746EB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185F97-BCD8-17BD-881B-660A2ECD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E6CBE0-B25B-5741-3D3F-2B0CD9E46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A0C2-1023-E848-BC3B-1CF6A8FDF1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07984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66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6CC0C90-E1FD-404D-892F-5FB6F0D29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83" y="252196"/>
            <a:ext cx="11712633" cy="1341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3FA08E-A128-8ACD-86F6-88972A6DF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755" y="1662545"/>
            <a:ext cx="11712633" cy="461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C72A8C-F58E-E66F-3CA4-FC9F70791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2756" y="6356350"/>
            <a:ext cx="3348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150000"/>
              </a:lnSpc>
              <a:defRPr sz="1200">
                <a:solidFill>
                  <a:schemeClr val="tx1">
                    <a:tint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fld id="{B211D176-C48C-784F-B433-484D39C746EB}" type="datetimeFigureOut">
              <a:rPr kumimoji="1" lang="zh-TW" altLang="en-US" smtClean="0"/>
              <a:pPr/>
              <a:t>2026/7/21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E6E931-2A6C-E1FD-BC22-2A98D2731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lnSpc>
                <a:spcPct val="150000"/>
              </a:lnSpc>
              <a:defRPr sz="1200">
                <a:solidFill>
                  <a:schemeClr val="tx1">
                    <a:tint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CB6206-A5F5-0106-0881-8D69D70D6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347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150000"/>
              </a:lnSpc>
              <a:defRPr sz="1200">
                <a:solidFill>
                  <a:schemeClr val="tx1">
                    <a:tint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fld id="{F963A0C2-1023-E848-BC3B-1CF6A8FDF178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960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51" r:id="rId5"/>
    <p:sldLayoutId id="2147483652" r:id="rId6"/>
    <p:sldLayoutId id="2147483662" r:id="rId7"/>
    <p:sldLayoutId id="2147483665" r:id="rId8"/>
    <p:sldLayoutId id="2147483664" r:id="rId9"/>
    <p:sldLayoutId id="2147483653" r:id="rId10"/>
    <p:sldLayoutId id="214748366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4400" b="1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menti.com/al9vf9d8pxf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A60EA1-C752-544F-1D2D-DB9A05AC09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zh-TW" altLang="en-US" dirty="0"/>
              <a:t>人工智慧基礎素養</a:t>
            </a:r>
            <a:br>
              <a:rPr kumimoji="1" lang="en-US" altLang="zh-TW" dirty="0"/>
            </a:br>
            <a:r>
              <a:rPr kumimoji="1" lang="en-US" altLang="zh-TW" dirty="0"/>
              <a:t>AI Fundamentals Literacy</a:t>
            </a:r>
            <a:endParaRPr kumimoji="1"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B242F8-CCE9-DE24-B298-E3CB67561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36572"/>
            <a:ext cx="9144000" cy="2209800"/>
          </a:xfrm>
        </p:spPr>
        <p:txBody>
          <a:bodyPr>
            <a:normAutofit fontScale="85000" lnSpcReduction="20000"/>
          </a:bodyPr>
          <a:lstStyle/>
          <a:p>
            <a:pPr algn="l">
              <a:lnSpc>
                <a:spcPct val="120000"/>
              </a:lnSpc>
            </a:pPr>
            <a:r>
              <a:rPr kumimoji="1" lang="zh-TW" altLang="en-US" b="1" dirty="0"/>
              <a:t>課程類型：通識課程／暑期先修</a:t>
            </a:r>
          </a:p>
          <a:p>
            <a:pPr algn="l">
              <a:lnSpc>
                <a:spcPct val="120000"/>
              </a:lnSpc>
            </a:pPr>
            <a:r>
              <a:rPr kumimoji="1" lang="zh-TW" altLang="en-US" b="1" dirty="0"/>
              <a:t>學分數：</a:t>
            </a:r>
            <a:r>
              <a:rPr kumimoji="1" lang="en-US" altLang="zh-TW" b="1" dirty="0"/>
              <a:t>1 </a:t>
            </a:r>
            <a:r>
              <a:rPr kumimoji="1" lang="zh-TW" altLang="en-US" b="1" dirty="0"/>
              <a:t>學分</a:t>
            </a:r>
          </a:p>
          <a:p>
            <a:pPr algn="l">
              <a:lnSpc>
                <a:spcPct val="120000"/>
              </a:lnSpc>
            </a:pPr>
            <a:r>
              <a:rPr kumimoji="1" lang="zh-TW" altLang="en-US" b="1" dirty="0"/>
              <a:t>授課時數：</a:t>
            </a:r>
            <a:r>
              <a:rPr kumimoji="1" lang="en-US" altLang="zh-TW" b="1" dirty="0"/>
              <a:t>18 </a:t>
            </a:r>
            <a:r>
              <a:rPr kumimoji="1" lang="zh-TW" altLang="en-US" b="1" dirty="0"/>
              <a:t>小時</a:t>
            </a:r>
          </a:p>
          <a:p>
            <a:pPr algn="l">
              <a:lnSpc>
                <a:spcPct val="120000"/>
              </a:lnSpc>
            </a:pPr>
            <a:r>
              <a:rPr kumimoji="1" lang="zh-TW" altLang="en-US" b="1" dirty="0"/>
              <a:t>課程期間：</a:t>
            </a:r>
            <a:r>
              <a:rPr kumimoji="1" lang="en-US" altLang="zh-TW" b="1" dirty="0"/>
              <a:t>6 </a:t>
            </a:r>
            <a:r>
              <a:rPr kumimoji="1" lang="zh-TW" altLang="en-US" b="1" dirty="0"/>
              <a:t>週，每週 </a:t>
            </a:r>
            <a:r>
              <a:rPr kumimoji="1" lang="en-US" altLang="zh-TW" b="1" dirty="0"/>
              <a:t>3 </a:t>
            </a:r>
            <a:r>
              <a:rPr kumimoji="1" lang="zh-TW" altLang="en-US" b="1" dirty="0"/>
              <a:t>小時（</a:t>
            </a:r>
            <a:r>
              <a:rPr kumimoji="1" lang="en-US" altLang="zh-TW" b="1"/>
              <a:t>7/21~8/25</a:t>
            </a:r>
            <a:r>
              <a:rPr kumimoji="1" lang="zh-TW" altLang="en-US" b="1"/>
              <a:t>）</a:t>
            </a:r>
            <a:endParaRPr kumimoji="1" lang="en-US" altLang="zh-TW" b="1" dirty="0"/>
          </a:p>
          <a:p>
            <a:pPr algn="l">
              <a:lnSpc>
                <a:spcPct val="120000"/>
              </a:lnSpc>
            </a:pPr>
            <a:r>
              <a:rPr kumimoji="1" lang="zh-TW" altLang="en-US" b="1" dirty="0"/>
              <a:t>授課教師：致理科技大學 資訊管理系 楊宣哲 博士</a:t>
            </a:r>
          </a:p>
        </p:txBody>
      </p:sp>
    </p:spTree>
    <p:extLst>
      <p:ext uri="{BB962C8B-B14F-4D97-AF65-F5344CB8AC3E}">
        <p14:creationId xmlns:p14="http://schemas.microsoft.com/office/powerpoint/2010/main" val="2894555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515B9A-C6CC-FF28-1082-518960EDA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教學目標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EB9E0E-CBE6-0465-F5FE-CA8477DA1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TW" altLang="en-US" dirty="0"/>
              <a:t>本課程在協助本校五專新生建立 </a:t>
            </a:r>
            <a:r>
              <a:rPr kumimoji="1" lang="zh-TW" altLang="en-US" b="1" dirty="0"/>
              <a:t>人工智慧</a:t>
            </a:r>
            <a:r>
              <a:rPr kumimoji="1" lang="zh-TW" altLang="en-US" dirty="0"/>
              <a:t> 基本概念與應用能力。理解生成式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的</a:t>
            </a:r>
            <a:r>
              <a:rPr kumimoji="1" lang="zh-TW" altLang="en-US" b="1" dirty="0"/>
              <a:t>用途</a:t>
            </a:r>
            <a:r>
              <a:rPr kumimoji="1" lang="zh-TW" altLang="en-US" dirty="0"/>
              <a:t>、</a:t>
            </a:r>
            <a:r>
              <a:rPr kumimoji="1" lang="zh-TW" altLang="en-US" b="1" dirty="0"/>
              <a:t>限制</a:t>
            </a:r>
            <a:r>
              <a:rPr kumimoji="1" lang="zh-TW" altLang="en-US" dirty="0"/>
              <a:t>與</a:t>
            </a:r>
            <a:r>
              <a:rPr kumimoji="1" lang="zh-TW" altLang="en-US" b="1" dirty="0"/>
              <a:t>風險</a:t>
            </a:r>
            <a:r>
              <a:rPr kumimoji="1" lang="zh-TW" altLang="en-US" dirty="0"/>
              <a:t>，能在未來的學習情境中</a:t>
            </a:r>
            <a:r>
              <a:rPr kumimoji="1" lang="zh-TW" altLang="en-US" b="1" dirty="0"/>
              <a:t>正確</a:t>
            </a:r>
            <a:r>
              <a:rPr kumimoji="1" lang="zh-TW" altLang="en-US" dirty="0"/>
              <a:t>使用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工具輔助學習上的搜尋、摘要、整理、改寫與創意發想。</a:t>
            </a:r>
            <a:endParaRPr kumimoji="1" lang="en-US" altLang="zh-TW" dirty="0"/>
          </a:p>
          <a:p>
            <a:r>
              <a:rPr kumimoji="1" lang="zh-TW" altLang="en-US" dirty="0"/>
              <a:t>課程結合生活案例與商管情境，避免過度的理論，讓學員能將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基礎素養連結至日後的專業學習與日常生活。</a:t>
            </a:r>
            <a:endParaRPr kumimoji="1" lang="en-US" altLang="zh-TW" dirty="0"/>
          </a:p>
          <a:p>
            <a:r>
              <a:rPr kumimoji="1" lang="zh-TW" altLang="en-US" dirty="0"/>
              <a:t>課程完成後，學生應具備基本對 </a:t>
            </a:r>
            <a:r>
              <a:rPr kumimoji="1" lang="en-US" altLang="zh-TW" dirty="0"/>
              <a:t>AI</a:t>
            </a:r>
            <a:r>
              <a:rPr kumimoji="1" lang="zh-TW" altLang="en-US" dirty="0"/>
              <a:t> 的提問能力、判斷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回傳結果的識讀能力、資訊倫理與學術誠信的初步觀念。</a:t>
            </a:r>
          </a:p>
        </p:txBody>
      </p:sp>
    </p:spTree>
    <p:extLst>
      <p:ext uri="{BB962C8B-B14F-4D97-AF65-F5344CB8AC3E}">
        <p14:creationId xmlns:p14="http://schemas.microsoft.com/office/powerpoint/2010/main" val="3247086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158EF0-BFED-F276-949B-FEA145ACF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教學綱要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0781E5-272E-E2D3-E5D3-17CD313AA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課程採「概念認識 </a:t>
            </a:r>
            <a:r>
              <a:rPr kumimoji="1" lang="en-US" altLang="zh-TW" dirty="0"/>
              <a:t>+ </a:t>
            </a:r>
            <a:r>
              <a:rPr kumimoji="1" lang="zh-TW" altLang="en-US" dirty="0"/>
              <a:t>工具體驗 </a:t>
            </a:r>
            <a:r>
              <a:rPr kumimoji="1" lang="en-US" altLang="zh-TW" dirty="0"/>
              <a:t>+ </a:t>
            </a:r>
            <a:r>
              <a:rPr kumimoji="1" lang="zh-TW" altLang="en-US" dirty="0"/>
              <a:t>情境應用 </a:t>
            </a:r>
            <a:r>
              <a:rPr kumimoji="1" lang="en-US" altLang="zh-TW" dirty="0"/>
              <a:t>+ </a:t>
            </a:r>
            <a:r>
              <a:rPr kumimoji="1" lang="zh-TW" altLang="en-US" dirty="0"/>
              <a:t>倫理判斷」四階段設計。</a:t>
            </a:r>
          </a:p>
          <a:p>
            <a:r>
              <a:rPr kumimoji="1" lang="zh-TW" altLang="en-US" dirty="0"/>
              <a:t>前半段建立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與提示詞基礎，後半段進入跨領域應用與風險意識。</a:t>
            </a:r>
          </a:p>
          <a:p>
            <a:r>
              <a:rPr kumimoji="1" lang="zh-TW" altLang="en-US" dirty="0"/>
              <a:t>課堂以示範、實作、分組討論與小專題為主。讓學生在操作中理解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的能力、限制與風險。</a:t>
            </a:r>
          </a:p>
        </p:txBody>
      </p:sp>
    </p:spTree>
    <p:extLst>
      <p:ext uri="{BB962C8B-B14F-4D97-AF65-F5344CB8AC3E}">
        <p14:creationId xmlns:p14="http://schemas.microsoft.com/office/powerpoint/2010/main" val="1970016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13F9A0-6D8F-BA89-A3C8-28E2FFB5F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評分方式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BC0DE5-E956-5EAE-0FD1-4948FF038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課堂參與與出席：</a:t>
            </a:r>
            <a:r>
              <a:rPr kumimoji="1" lang="en-US" altLang="zh-TW" dirty="0"/>
              <a:t>20%</a:t>
            </a:r>
            <a:r>
              <a:rPr kumimoji="1" lang="zh-TW" altLang="en-US" dirty="0"/>
              <a:t>。</a:t>
            </a:r>
          </a:p>
          <a:p>
            <a:r>
              <a:rPr kumimoji="1" lang="zh-TW" altLang="en-US" dirty="0"/>
              <a:t>每週實作與學習單：</a:t>
            </a:r>
            <a:r>
              <a:rPr kumimoji="1" lang="en-US" altLang="zh-TW" dirty="0"/>
              <a:t>40%</a:t>
            </a:r>
            <a:r>
              <a:rPr kumimoji="1" lang="zh-TW" altLang="en-US" dirty="0"/>
              <a:t>。</a:t>
            </a:r>
          </a:p>
          <a:p>
            <a:r>
              <a:rPr kumimoji="1" lang="zh-TW" altLang="en-US" dirty="0"/>
              <a:t>分組案例任務、期末小專題：</a:t>
            </a:r>
            <a:r>
              <a:rPr kumimoji="1" lang="en-US" altLang="zh-TW" dirty="0"/>
              <a:t>40%</a:t>
            </a:r>
            <a:r>
              <a:rPr kumimoji="1"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55221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7BDD12-2660-DC46-C8A2-0DAFCFBFB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課堂要求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EA5A00-A64E-E0CC-22BC-C6E2EFF83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zh-TW" altLang="en-US" dirty="0"/>
              <a:t>準時出席並積極參與課堂活動。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dirty="0"/>
              <a:t>課堂操作應親自完成，不以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產出做為全部繳交的內容。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dirty="0"/>
              <a:t>使用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產出內容，需再繳交內容中註明工具用途並進行基本檢查。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dirty="0"/>
              <a:t>切勿上傳個人隱私、未經授權資料 或 敏感內容。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dirty="0"/>
              <a:t>尊重著作權與學術誠信，嚴禁</a:t>
            </a:r>
            <a:r>
              <a:rPr kumimoji="1" lang="zh-TW" altLang="en-US" b="1" dirty="0"/>
              <a:t>直接</a:t>
            </a:r>
            <a:r>
              <a:rPr kumimoji="1" lang="zh-TW" altLang="en-US" dirty="0"/>
              <a:t>抄襲或直接使用 </a:t>
            </a:r>
            <a:r>
              <a:rPr kumimoji="1" lang="en-US" altLang="zh-TW" dirty="0"/>
              <a:t>AI </a:t>
            </a:r>
            <a:r>
              <a:rPr kumimoji="1" lang="zh-TW" altLang="en-US" dirty="0"/>
              <a:t>生成內容。</a:t>
            </a:r>
          </a:p>
        </p:txBody>
      </p:sp>
    </p:spTree>
    <p:extLst>
      <p:ext uri="{BB962C8B-B14F-4D97-AF65-F5344CB8AC3E}">
        <p14:creationId xmlns:p14="http://schemas.microsoft.com/office/powerpoint/2010/main" val="1846657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04AF6829-7280-FBD2-8B48-2765AEACD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教學進度</a:t>
            </a: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B820A486-4912-FF1D-73EA-ADFC55D6C2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4274101"/>
              </p:ext>
            </p:extLst>
          </p:nvPr>
        </p:nvGraphicFramePr>
        <p:xfrm>
          <a:off x="233363" y="1662113"/>
          <a:ext cx="11712575" cy="4917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57237">
                  <a:extLst>
                    <a:ext uri="{9D8B030D-6E8A-4147-A177-3AD203B41FA5}">
                      <a16:colId xmlns:a16="http://schemas.microsoft.com/office/drawing/2014/main" val="4014553801"/>
                    </a:ext>
                  </a:extLst>
                </a:gridCol>
                <a:gridCol w="2188029">
                  <a:extLst>
                    <a:ext uri="{9D8B030D-6E8A-4147-A177-3AD203B41FA5}">
                      <a16:colId xmlns:a16="http://schemas.microsoft.com/office/drawing/2014/main" val="941808030"/>
                    </a:ext>
                  </a:extLst>
                </a:gridCol>
                <a:gridCol w="2340428">
                  <a:extLst>
                    <a:ext uri="{9D8B030D-6E8A-4147-A177-3AD203B41FA5}">
                      <a16:colId xmlns:a16="http://schemas.microsoft.com/office/drawing/2014/main" val="1298428946"/>
                    </a:ext>
                  </a:extLst>
                </a:gridCol>
                <a:gridCol w="4084366">
                  <a:extLst>
                    <a:ext uri="{9D8B030D-6E8A-4147-A177-3AD203B41FA5}">
                      <a16:colId xmlns:a16="http://schemas.microsoft.com/office/drawing/2014/main" val="2421992811"/>
                    </a:ext>
                  </a:extLst>
                </a:gridCol>
                <a:gridCol w="2342515">
                  <a:extLst>
                    <a:ext uri="{9D8B030D-6E8A-4147-A177-3AD203B41FA5}">
                      <a16:colId xmlns:a16="http://schemas.microsoft.com/office/drawing/2014/main" val="2805525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週次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主題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工具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課堂任務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預期成效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589363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zh-TW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迷思解構</a:t>
                      </a: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—</a:t>
                      </a:r>
                      <a:r>
                        <a:rPr lang="zh-TW" altLang="zh-TW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什麼是</a:t>
                      </a: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AI</a:t>
                      </a:r>
                      <a:r>
                        <a:rPr lang="zh-TW" altLang="zh-TW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？ 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ChatGPT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Gemini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Mentimeter</a:t>
                      </a:r>
                      <a:endParaRPr lang="zh-TW" altLang="en-US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用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觀察生活案例，完成「</a:t>
                      </a:r>
                      <a:r>
                        <a:rPr lang="zh-TW" altLang="en-US" sz="15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我在哪裡看過 </a:t>
                      </a:r>
                      <a:r>
                        <a:rPr lang="en-US" altLang="zh-TW" sz="15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」小討論，利用投票工具收集全班對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的既有印象。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完成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生活應用地圖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92696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二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AI</a:t>
                      </a:r>
                      <a:r>
                        <a:rPr lang="zh-TW" alt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溝通術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ChatGPT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Gemini</a:t>
                      </a:r>
                      <a:endParaRPr lang="zh-TW" altLang="en-US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練習提示詞寫法：</a:t>
                      </a:r>
                      <a:endParaRPr lang="en-US" altLang="zh-TW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800100" lvl="1" indent="-342900">
                        <a:buFont typeface="+mj-lt"/>
                        <a:buAutoNum type="arabicPeriod"/>
                      </a:pP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將同一題目用</a:t>
                      </a:r>
                      <a:r>
                        <a:rPr lang="zh-TW" altLang="en-US" sz="15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不同問法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輸入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，比較回答差異並修正提示詞。</a:t>
                      </a:r>
                      <a:endParaRPr lang="en-US" altLang="zh-TW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800100" lvl="1" indent="-342900">
                        <a:buFont typeface="+mj-lt"/>
                        <a:buAutoNum type="arabicPeriod"/>
                      </a:pP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將同一題目用</a:t>
                      </a:r>
                      <a:r>
                        <a:rPr lang="zh-TW" altLang="en-US" sz="15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不同人設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輸入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AI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，比較回答差異並調整人設。</a:t>
                      </a:r>
                      <a:endParaRPr lang="en-US" altLang="zh-TW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將同一題目用</a:t>
                      </a:r>
                      <a:r>
                        <a:rPr lang="zh-TW" altLang="en-US" sz="1500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不同參數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輸入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，比較回答差異並修正參數。</a:t>
                      </a:r>
                      <a:endParaRPr lang="en-US" altLang="zh-TW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完成個人提示詞卡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074993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三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利用</a:t>
                      </a: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AI</a:t>
                      </a:r>
                      <a:r>
                        <a:rPr lang="zh-TW" alt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來搜尋與整理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ChatGPT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Gemini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Padlet</a:t>
                      </a:r>
                      <a:endParaRPr lang="zh-TW" altLang="en-US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搜尋指定主題，請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摘要、分類與比較，再用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Padlet 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彙整小組成果。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完成主題整理表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414706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四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商管情境應用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ChatGPT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Gemini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Canva</a:t>
                      </a:r>
                      <a:endParaRPr lang="zh-TW" altLang="en-US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分組處理企管、財金、會計、國貿情境題，請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協助產出重點，最後做成一頁式海報或簡報。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完成小組案例簡報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2427492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五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英語與資訊應用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Quizlet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ChatGPT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Gemini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Canva</a:t>
                      </a:r>
                      <a:endParaRPr lang="zh-TW" altLang="en-US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用 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協助英文單字、短句改寫與簡報用語整理，再轉成字卡或簡報頁面。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完成英文學習任務單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88853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六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AI</a:t>
                      </a:r>
                      <a:r>
                        <a:rPr lang="zh-TW" altLang="en-US" sz="15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倫理與專題發表</a:t>
                      </a: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Padlet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Canva</a:t>
                      </a:r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altLang="zh-TW" sz="1500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Mentimeter</a:t>
                      </a:r>
                      <a:endParaRPr lang="zh-TW" altLang="en-US" sz="15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討論隱私、偏誤、著作權與學術誠信，並用簡報或海報發表期末成果。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完成期末小專題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828845280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AFDE38FB-E007-E11C-6140-B34FA7CC7D24}"/>
              </a:ext>
            </a:extLst>
          </p:cNvPr>
          <p:cNvSpPr txBox="1"/>
          <p:nvPr/>
        </p:nvSpPr>
        <p:spPr>
          <a:xfrm>
            <a:off x="6764356" y="553640"/>
            <a:ext cx="3718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hlinkClick r:id="rId2"/>
              </a:rPr>
              <a:t>https://</a:t>
            </a:r>
            <a:r>
              <a:rPr kumimoji="1" lang="en-US" altLang="zh-TW" dirty="0" err="1">
                <a:hlinkClick r:id="rId2"/>
              </a:rPr>
              <a:t>www.menti.com</a:t>
            </a:r>
            <a:r>
              <a:rPr kumimoji="1" lang="en-US" altLang="zh-TW" dirty="0">
                <a:hlinkClick r:id="rId2"/>
              </a:rPr>
              <a:t>/al9vf9d8pxft</a:t>
            </a:r>
            <a:endParaRPr kumimoji="1"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DBCB4EA-D987-A01E-19A9-E78C7F7EE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328" y="252196"/>
            <a:ext cx="1281610" cy="128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96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E49B96-EEE7-AF26-80F2-98F3C333F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83" y="252196"/>
            <a:ext cx="11712633" cy="1341553"/>
          </a:xfrm>
        </p:spPr>
        <p:txBody>
          <a:bodyPr/>
          <a:lstStyle/>
          <a:p>
            <a:r>
              <a:rPr lang="zh-TW" altLang="en-US" dirty="0"/>
              <a:t>工具一覽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16E83961-CC38-5F35-ED3C-54DF7D75FD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736706"/>
              </p:ext>
            </p:extLst>
          </p:nvPr>
        </p:nvGraphicFramePr>
        <p:xfrm>
          <a:off x="233363" y="1662113"/>
          <a:ext cx="11621180" cy="4805583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542494">
                  <a:extLst>
                    <a:ext uri="{9D8B030D-6E8A-4147-A177-3AD203B41FA5}">
                      <a16:colId xmlns:a16="http://schemas.microsoft.com/office/drawing/2014/main" val="2474593929"/>
                    </a:ext>
                  </a:extLst>
                </a:gridCol>
                <a:gridCol w="2808514">
                  <a:extLst>
                    <a:ext uri="{9D8B030D-6E8A-4147-A177-3AD203B41FA5}">
                      <a16:colId xmlns:a16="http://schemas.microsoft.com/office/drawing/2014/main" val="1584167553"/>
                    </a:ext>
                  </a:extLst>
                </a:gridCol>
                <a:gridCol w="5018315">
                  <a:extLst>
                    <a:ext uri="{9D8B030D-6E8A-4147-A177-3AD203B41FA5}">
                      <a16:colId xmlns:a16="http://schemas.microsoft.com/office/drawing/2014/main" val="329193586"/>
                    </a:ext>
                  </a:extLst>
                </a:gridCol>
                <a:gridCol w="1251857">
                  <a:extLst>
                    <a:ext uri="{9D8B030D-6E8A-4147-A177-3AD203B41FA5}">
                      <a16:colId xmlns:a16="http://schemas.microsoft.com/office/drawing/2014/main" val="1998057031"/>
                    </a:ext>
                  </a:extLst>
                </a:gridCol>
              </a:tblGrid>
              <a:tr h="239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工具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適合用途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課堂操作亮點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適合程度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1811131638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ChatGPT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問答、摘要、改寫、發想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直接輸入任務即可看到結果，最容易做提示詞練習。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高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1453652150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Google Gemini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問答、整理、學習輔助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可搭配 Google 生態系，適合入門使用與示範。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高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2604743349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Canva Magic Design / AI 功能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海報、簡報、視覺整理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學生能快速做出可展示的成果，適合分組任務。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高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696152374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Gamma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簡報生成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輸入主題就能生成簡報架構，適合課堂示範。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中高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4261509230"/>
                  </a:ext>
                </a:extLst>
              </a:tr>
              <a:tr h="599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Curipod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互動式課堂簡報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可做即時問答、投票、互動活動，適合課堂帶動氣氛。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中高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2947712848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Mentimeter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即時投票、詞雲、問卷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很適合先修課做暖身、回饋與意見蒐集。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高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3455997612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Quizlet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單字卡、測驗、複習遊戲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適合應英與基礎概念複習，操作門檻低。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高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621672653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Padlet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想法收集、分組共編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學生可貼便利貼式回應，適合腦力激盪。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高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2258780870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Teachable Machine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影像／聲音／姿勢分類入門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不需要寫程式，適合讓學生理解 AI 訓練概念。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中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1570182273"/>
                  </a:ext>
                </a:extLst>
              </a:tr>
              <a:tr h="419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Wolfram Alpha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計算、資料與概念查詢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適合財金、會計、商管的基礎計算示範。</a:t>
                      </a:r>
                    </a:p>
                  </a:txBody>
                  <a:tcPr marL="59913" marR="59913" marT="29956" marB="299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中</a:t>
                      </a:r>
                    </a:p>
                  </a:txBody>
                  <a:tcPr marL="59913" marR="59913" marT="29956" marB="29956" anchor="ctr"/>
                </a:tc>
                <a:extLst>
                  <a:ext uri="{0D108BD9-81ED-4DB2-BD59-A6C34878D82A}">
                    <a16:rowId xmlns:a16="http://schemas.microsoft.com/office/drawing/2014/main" val="3684059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67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9" id="{D74C9C79-C533-834A-BA9B-3E58C5125D60}" vid="{3CB79096-F6E4-BF4F-8EE8-088D67C7770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佈景主題</Template>
  <TotalTime>258</TotalTime>
  <Words>864</Words>
  <Application>Microsoft Office PowerPoint</Application>
  <PresentationFormat>寬螢幕</PresentationFormat>
  <Paragraphs>110</Paragraphs>
  <Slides>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Microsoft JhengHei</vt:lpstr>
      <vt:lpstr>Arial</vt:lpstr>
      <vt:lpstr>Calibri</vt:lpstr>
      <vt:lpstr>Consolas</vt:lpstr>
      <vt:lpstr>Office 佈景主題</vt:lpstr>
      <vt:lpstr>人工智慧基礎素養 AI Fundamentals Literacy</vt:lpstr>
      <vt:lpstr>教學目標</vt:lpstr>
      <vt:lpstr>教學綱要</vt:lpstr>
      <vt:lpstr>評分方式</vt:lpstr>
      <vt:lpstr>課堂要求</vt:lpstr>
      <vt:lpstr>教學進度</vt:lpstr>
      <vt:lpstr>工具一覽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Hsuan-Che Yang</dc:creator>
  <cp:lastModifiedBy>User</cp:lastModifiedBy>
  <cp:revision>10</cp:revision>
  <dcterms:created xsi:type="dcterms:W3CDTF">2026-06-02T01:36:13Z</dcterms:created>
  <dcterms:modified xsi:type="dcterms:W3CDTF">2026-07-21T05:27:09Z</dcterms:modified>
</cp:coreProperties>
</file>
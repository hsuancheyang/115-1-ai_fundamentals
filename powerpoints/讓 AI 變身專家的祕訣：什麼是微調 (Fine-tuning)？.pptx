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0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472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5473" y="2764631"/>
            <a:ext cx="5980903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62"/>
              </a:lnSpc>
            </a:pPr>
            <a:r>
              <a:rPr sz="4050" b="1" i="0" u="none">
                <a:solidFill>
                  <a:srgbClr val="0F172A"/>
                </a:solidFill>
                <a:latin typeface="Noto Sans TC"/>
              </a:rPr>
              <a:t>🎯 讓 AI 變身專家的祕訣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8853" y="3598068"/>
            <a:ext cx="387414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Noto Sans TC Medium"/>
              </a:rPr>
              <a:t>帶你認識「微調 (Fine-tuning)」的魔法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108" y="4226718"/>
            <a:ext cx="5983634" cy="4476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0333" y="4350543"/>
            <a:ext cx="1744414" cy="200025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B21B6"/>
                </a:solidFill>
                <a:latin typeface="Noto Sans TC Medium"/>
              </a:rPr>
              <a:t>建議授課時間：50 分鐘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67622" y="4350543"/>
            <a:ext cx="3958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B21B6"/>
                </a:solidFill>
                <a:latin typeface="Noto Sans TC Medium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0085" y="4350543"/>
            <a:ext cx="3361432" cy="184666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ctr"/>
            <a:r>
              <a:rPr sz="1200" b="0" i="0" u="none" dirty="0" err="1">
                <a:solidFill>
                  <a:srgbClr val="5B21B6"/>
                </a:solidFill>
                <a:latin typeface="Noto Sans TC Medium"/>
              </a:rPr>
              <a:t>不只要博學多聞，更要術業有專攻</a:t>
            </a:r>
            <a:r>
              <a:rPr sz="1200" b="0" i="0" u="none" dirty="0">
                <a:solidFill>
                  <a:srgbClr val="5B21B6"/>
                </a:solidFill>
                <a:latin typeface="Noto Sans TC Medium"/>
              </a:rPr>
              <a:t>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0333" y="4369593"/>
            <a:ext cx="118616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0085" y="4369593"/>
            <a:ext cx="118616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6072"/>
            <a:ext cx="5334000" cy="17677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26072"/>
            <a:ext cx="5334000" cy="17677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66813" y="4631977"/>
            <a:ext cx="745822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Noto Sans TC Medium"/>
              </a:rPr>
              <a:t>💡 </a:t>
            </a:r>
            <a:r>
              <a:rPr sz="1350" b="1" i="0" u="none">
                <a:solidFill>
                  <a:srgbClr val="475569"/>
                </a:solidFill>
                <a:latin typeface="Noto Sans TC"/>
              </a:rPr>
              <a:t>關鍵結論：</a:t>
            </a:r>
            <a:r>
              <a:rPr sz="1350" b="0" i="0" u="none">
                <a:solidFill>
                  <a:srgbClr val="475569"/>
                </a:solidFill>
                <a:latin typeface="Noto Sans TC Medium"/>
              </a:rPr>
              <a:t>資料讀得多（預訓練）不代表能處理特定任務，還需要進行「實戰特訓（微調）」！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2949922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D28D9"/>
                </a:solidFill>
                <a:latin typeface="Noto Sans TC"/>
              </a:rPr>
              <a:t>A. 攻略學霸教授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3407122"/>
            <a:ext cx="46863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讀過上萬本《英雄聯盟》攻略書籍與論文，理論知識滿分，但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從未親手打過任何一場對戰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2949922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D28D9"/>
                </a:solidFill>
                <a:latin typeface="Noto Sans TC"/>
              </a:rPr>
              <a:t>B. 專職電競選手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3407122"/>
            <a:ext cx="46863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C1D95"/>
                </a:solidFill>
                <a:latin typeface="Noto Sans TC"/>
              </a:rPr>
              <a:t>只專注於這款遊戲，每天進行 12 小時實戰特訓，</a:t>
            </a:r>
            <a:r>
              <a:rPr sz="1350" b="1" i="0" u="none">
                <a:solidFill>
                  <a:srgbClr val="4C1D95"/>
                </a:solidFill>
                <a:latin typeface="Noto Sans TC"/>
              </a:rPr>
              <a:t>累積了長達十年的職業對戰經驗</a:t>
            </a:r>
            <a:r>
              <a:rPr sz="1350" b="0" i="0" u="none">
                <a:solidFill>
                  <a:srgbClr val="4C1D95"/>
                </a:solidFill>
                <a:latin typeface="Noto Sans TC"/>
              </a:rPr>
              <a:t>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2988022"/>
            <a:ext cx="177849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2988022"/>
            <a:ext cx="177849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1670" y="476250"/>
            <a:ext cx="11170771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課堂破冰：誰才是真正的專家？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5029200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基礎模型 (Base Model)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像高中畢業生，國英數社自樣樣懂，但缺乏特定的職場專業技能。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990850"/>
            <a:ext cx="5029200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微調 (Fine-tuning)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送高中生進入「護理系」或「資管系」，接受專門的職前訓練。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976687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專業改造結果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保留了基礎知識，同時搖身一變成專業的護理師或工程師！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rcRect l="15859" r="15738"/>
          <a:stretch>
            <a:fillRect/>
          </a:stretch>
        </p:blipFill>
        <p:spPr>
          <a:xfrm>
            <a:off x="5949568" y="410378"/>
            <a:ext cx="6096127" cy="603724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014662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000500"/>
            <a:ext cx="133498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670" y="476250"/>
            <a:ext cx="11170771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什麼是微調？AI 的職前訓練班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30872"/>
            <a:ext cx="5334000" cy="17677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30872"/>
            <a:ext cx="5334000" cy="17677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350" y="3254722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991B1B"/>
                </a:solidFill>
                <a:latin typeface="Noto Sans TC"/>
              </a:rPr>
              <a:t>做法：幾千億參數全部重算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711922"/>
            <a:ext cx="46863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7F1D1D"/>
                </a:solidFill>
                <a:latin typeface="Noto Sans TC"/>
              </a:rPr>
              <a:t>把模型裡面的所有記憶體細胞（神經元參數）全部解鎖重新訓練一遍，調整幅度最大、效果最全面。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0350" y="3254722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B45309"/>
                </a:solidFill>
                <a:latin typeface="Noto Sans TC"/>
              </a:rPr>
              <a:t>致命缺點：超貴又易忘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711922"/>
            <a:ext cx="46863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78350F"/>
                </a:solidFill>
                <a:latin typeface="Noto Sans TC"/>
              </a:rPr>
              <a:t>1. </a:t>
            </a:r>
            <a:r>
              <a:rPr sz="1275" b="1" i="0" u="none">
                <a:solidFill>
                  <a:srgbClr val="78350F"/>
                </a:solidFill>
                <a:latin typeface="Noto Sans TC"/>
              </a:rPr>
              <a:t>費用極高：</a:t>
            </a:r>
            <a:r>
              <a:rPr sz="1275" b="0" i="0" u="none">
                <a:solidFill>
                  <a:srgbClr val="78350F"/>
                </a:solidFill>
                <a:latin typeface="Noto Sans TC"/>
              </a:rPr>
              <a:t>需要租用大量頂級工業顯示卡（GPU）。</a:t>
            </a:r>
            <a:r>
              <a:t>
</a:t>
            </a:r>
            <a:r>
              <a:rPr sz="1275" b="0" i="0" u="none">
                <a:solidFill>
                  <a:srgbClr val="78350F"/>
                </a:solidFill>
                <a:latin typeface="Noto Sans TC"/>
              </a:rPr>
              <a:t> 2. </a:t>
            </a:r>
            <a:r>
              <a:rPr sz="1275" b="1" i="0" u="none">
                <a:solidFill>
                  <a:srgbClr val="78350F"/>
                </a:solidFill>
                <a:latin typeface="Noto Sans TC"/>
              </a:rPr>
              <a:t>災難性遺忘：</a:t>
            </a:r>
            <a:r>
              <a:rPr sz="1275" b="0" i="0" u="none">
                <a:solidFill>
                  <a:srgbClr val="78350F"/>
                </a:solidFill>
                <a:latin typeface="Noto Sans TC"/>
              </a:rPr>
              <a:t>學了新領域，卻把原本的基本常識全忘光！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3292822"/>
            <a:ext cx="177849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292822"/>
            <a:ext cx="177849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670" y="476250"/>
            <a:ext cx="11170771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全量微調：最紮實但也最昂貴！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1669" y="742733"/>
            <a:ext cx="5529299" cy="4385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 err="1">
                <a:solidFill>
                  <a:srgbClr val="0F172A"/>
                </a:solidFill>
                <a:latin typeface="Noto Sans TC"/>
              </a:rPr>
              <a:t>LoRA：不用換手機，只要換外殼</a:t>
            </a:r>
            <a:r>
              <a:rPr sz="2850" b="1" i="0" u="none" dirty="0">
                <a:solidFill>
                  <a:srgbClr val="0F172A"/>
                </a:solidFill>
                <a:latin typeface="Noto Sans TC"/>
              </a:rPr>
              <a:t>！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781050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929979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LoRA (Low-Rank Adaptation) 輕量微調法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356669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目前全世界最熱門的微調技術！不用拆解手機內部昂貴的主機板與晶片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057650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 err="1">
                <a:solidFill>
                  <a:srgbClr val="334155"/>
                </a:solidFill>
                <a:latin typeface="Noto Sans TC"/>
              </a:rPr>
              <a:t>神奇妙招：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保持手機原封不動，只在外面外接一個「專業鏡頭」或「功能保護殼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58630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巨大優勢：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檔案超小、訓練超快，連一般個人的電腦都跑得動！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810EB51-B92C-A79F-0F3F-A8F201E2C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443" y="9377"/>
            <a:ext cx="5850231" cy="6844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保留主體建築架構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不用砸大錢拆除裝潢整棟房子（不動幾千億個基礎參數）。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19387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只替換關鍵掛畫與佈置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僅針對微小的外接矩陣進行參數調整。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3376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瞬間變換全屋風格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掛上畫作即刻從「極簡工業風」切換為「溫馨可愛風」！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rcRect l="15859" r="15738"/>
          <a:stretch>
            <a:fillRect/>
          </a:stretch>
        </p:blipFill>
        <p:spPr>
          <a:xfrm>
            <a:off x="5990072" y="962025"/>
            <a:ext cx="6046314" cy="532261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43200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57575"/>
            <a:ext cx="133498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670" y="476250"/>
            <a:ext cx="11170771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不用重新裝潢，只要換幾張掛畫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09837"/>
            <a:ext cx="11049000" cy="26098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509837"/>
          <a:ext cx="11039474" cy="2609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7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5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1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97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評比項目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提示詞工程 (Prompt)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檢索增強生成 (RAG)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模型微調 (Fine-tuning)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Noto Sans TC"/>
                        </a:rPr>
                        <a:t>生活比喻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耳提面命的「口頭交代」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帶著講義的「開書考試」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深入骨髓的「職前特訓」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Noto Sans TC"/>
                        </a:rPr>
                        <a:t>適用時機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臨時任務、簡單問答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需要準確的事實與資料來源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特定說話語氣、固定格式輸出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Noto Sans TC"/>
                        </a:rPr>
                        <a:t>訓練成本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免費 / 極低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中等（需建向量庫）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較高（需計算資源）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Noto Sans TC"/>
                        </a:rPr>
                        <a:t>改變行為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表面指示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補充外部知識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改變內在風格與結構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048000"/>
            <a:ext cx="15350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11275" y="3048000"/>
            <a:ext cx="2947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58667" y="3048000"/>
            <a:ext cx="3165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4391" y="3048000"/>
            <a:ext cx="33913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262" y="3562350"/>
            <a:ext cx="15350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11275" y="3562350"/>
            <a:ext cx="2947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58667" y="3562350"/>
            <a:ext cx="3165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4391" y="3562350"/>
            <a:ext cx="33913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262" y="4076700"/>
            <a:ext cx="15350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11275" y="4076700"/>
            <a:ext cx="2947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58667" y="4076700"/>
            <a:ext cx="3165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4391" y="4076700"/>
            <a:ext cx="33913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262" y="4591050"/>
            <a:ext cx="15350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11275" y="4591050"/>
            <a:ext cx="2947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58667" y="4591050"/>
            <a:ext cx="3165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4391" y="4591050"/>
            <a:ext cx="33913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262" y="5105400"/>
            <a:ext cx="15350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111275" y="5105400"/>
            <a:ext cx="2947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58667" y="5105400"/>
            <a:ext cx="3165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4391" y="5105400"/>
            <a:ext cx="33913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850" y="476250"/>
            <a:ext cx="11461432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我該用哪一招？三種 AI 強化密技大對決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4125"/>
            <a:ext cx="3530649" cy="2581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24125"/>
            <a:ext cx="3530649" cy="2581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24125"/>
            <a:ext cx="3530649" cy="2581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809875"/>
            <a:ext cx="53340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533775"/>
            <a:ext cx="21160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1. 特定的說話口氣 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933825"/>
            <a:ext cx="29591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打造具有獨特人格魅力的 AI，例如：傲嬌風格助手、溫柔心理諮商師或專屬客服。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6499" y="2809875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6499" y="3533775"/>
            <a:ext cx="21160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2. 固定的資料格式 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6499" y="3933825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要求 AI 每次都穩定回傳嚴格符合結構的 JSON 格式或特定程式碼樣板。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749" y="2809875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75749" y="3533775"/>
            <a:ext cx="189601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3. 企業專屬術語 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749" y="3933825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精通公司內部的特殊簡稱、代號與業界專用專業名詞語彙。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216" y="2943225"/>
            <a:ext cx="207466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9466" y="2943225"/>
            <a:ext cx="207466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38716" y="2943225"/>
            <a:ext cx="207466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1670" y="476250"/>
            <a:ext cx="11170771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什麼情境下最需要「微調」？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1670" y="777359"/>
            <a:ext cx="599200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Noto Sans TC"/>
              </a:rPr>
              <a:t>QLoRA：再壓扁一點！全民微調時代</a:t>
            </a:r>
            <a:endParaRPr sz="2400" b="1" i="0" u="none" dirty="0">
              <a:solidFill>
                <a:srgbClr val="0F172A"/>
              </a:solidFill>
              <a:latin typeface="Noto Sans TC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781050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3280469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QLoRA (Quantized LoRA) 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707159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模型體積太龐大？先幫它做「瘦身壓縮（量化）」再進行 LoRA 微調！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33850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打破高門檻：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大幅降低顯存需求，讓你在家裡的電競筆電上，也能訓練出專屬於自己的大語言模型。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B705631-942D-A6D5-48C8-46C3A878A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238" y="-1"/>
            <a:ext cx="591076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67125"/>
            <a:ext cx="110490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57375"/>
            <a:ext cx="5410200" cy="1581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857375"/>
            <a:ext cx="5410200" cy="1581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5275" y="476250"/>
            <a:ext cx="11601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Noto Sans TC"/>
              </a:rPr>
              <a:t>🎓 成為 AI 訓練師的第一步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76350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rgbClr val="7C3AED"/>
                </a:solidFill>
                <a:latin typeface="Noto Sans TC"/>
              </a:rPr>
              <a:t>「微調不是讓 AI 變聰明，而是讓它變專業！」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2276" y="3848100"/>
            <a:ext cx="133498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2105025"/>
            <a:ext cx="516064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1. 想查詢公司去年的營收數字？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457450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TC"/>
              </a:rPr>
              <a:t>需要精準的資料庫事實翻閱。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895600"/>
            <a:ext cx="1757362" cy="2952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7950" y="2105025"/>
            <a:ext cx="516064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2. 想讓 AI 模仿「周杰倫」語氣寫歌？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7950" y="2457450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TC"/>
              </a:rPr>
              <a:t>需要內化特定口吻與韻律風格。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950" y="2895600"/>
            <a:ext cx="1931789" cy="295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353</Words>
  <Application>Microsoft Macintosh PowerPoint</Application>
  <PresentationFormat>寬螢幕</PresentationFormat>
  <Paragraphs>67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Noto Sans TC</vt:lpstr>
      <vt:lpstr>Noto Sans TC Medium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Hsuan-Che Yang</cp:lastModifiedBy>
  <cp:revision>2</cp:revision>
  <dcterms:created xsi:type="dcterms:W3CDTF">2013-01-27T09:14:16Z</dcterms:created>
  <dcterms:modified xsi:type="dcterms:W3CDTF">2026-07-30T02:29:32Z</dcterms:modified>
  <cp:category/>
</cp:coreProperties>
</file>
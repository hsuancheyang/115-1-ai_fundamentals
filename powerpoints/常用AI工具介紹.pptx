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73" r:id="rId7"/>
    <p:sldId id="260" r:id="rId8"/>
    <p:sldId id="274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5" r:id="rId18"/>
    <p:sldId id="276" r:id="rId19"/>
    <p:sldId id="270" r:id="rId20"/>
    <p:sldId id="271" r:id="rId21"/>
    <p:sldId id="265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13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18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905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9367" y="358815"/>
            <a:ext cx="11620982" cy="5818147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268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47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9367" y="358815"/>
            <a:ext cx="11620982" cy="5818147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62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69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89367" y="1825625"/>
            <a:ext cx="5730433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38148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45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89367" y="365125"/>
            <a:ext cx="5730433" cy="58118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738148" cy="58118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338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89367" y="1825625"/>
            <a:ext cx="5730433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38148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381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89367" y="365125"/>
            <a:ext cx="5730433" cy="58118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738148" cy="58118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89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9367" y="365125"/>
            <a:ext cx="11620981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89368" y="1681163"/>
            <a:ext cx="570820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89368" y="2505075"/>
            <a:ext cx="570820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73814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3814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557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898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370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9368" y="457200"/>
            <a:ext cx="4482658" cy="1600200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457200"/>
            <a:ext cx="6727160" cy="576997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89368" y="2057400"/>
            <a:ext cx="4482658" cy="40698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2010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9368" y="457200"/>
            <a:ext cx="4482658" cy="1600200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942390" y="457200"/>
            <a:ext cx="6967958" cy="5781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89368" y="2057399"/>
            <a:ext cx="4482658" cy="418135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874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090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3185448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89367" y="365125"/>
            <a:ext cx="8283133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3502-2D1F-412E-A7A4-F4297EB856C6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E998C-24CE-4A18-BBB9-878A3A716C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653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49642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289367" y="365125"/>
            <a:ext cx="116209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89367" y="1825625"/>
            <a:ext cx="11620982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289367" y="6356350"/>
            <a:ext cx="32920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0BD3502-2D1F-412E-A7A4-F4297EB856C6}" type="datetimeFigureOut">
              <a:rPr lang="zh-TW" altLang="en-US" smtClean="0"/>
              <a:pPr/>
              <a:t>2026/7/1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2997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13E998C-24CE-4A18-BBB9-878A3A716C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946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63" r:id="rId8"/>
    <p:sldLayoutId id="2147483664" r:id="rId9"/>
    <p:sldLayoutId id="2147483665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常用ＡＩ工具介紹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r>
              <a:rPr lang="zh-TW" altLang="en-US" sz="1600" dirty="0"/>
              <a:t>資訊管理系 楊宣哲 博士</a:t>
            </a:r>
          </a:p>
        </p:txBody>
      </p:sp>
    </p:spTree>
    <p:extLst>
      <p:ext uri="{BB962C8B-B14F-4D97-AF65-F5344CB8AC3E}">
        <p14:creationId xmlns:p14="http://schemas.microsoft.com/office/powerpoint/2010/main" val="135493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194E87-6A7D-C815-2B49-E64CC213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019DF2-2513-A056-6069-6445E8490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人工智慧模型 (AI Large Language Models)</a:t>
            </a:r>
            <a:endParaRPr lang="zh-TW" altLang="zh-TW" dirty="0"/>
          </a:p>
          <a:p>
            <a:r>
              <a:rPr lang="zh-TW" altLang="zh-TW" b="1" dirty="0"/>
              <a:t>內容創建與設計工具 (Design &amp; Generative Tools)</a:t>
            </a:r>
            <a:endParaRPr lang="zh-TW" altLang="zh-TW" dirty="0"/>
          </a:p>
          <a:p>
            <a:r>
              <a:rPr lang="zh-TW" altLang="zh-TW" b="1" dirty="0"/>
              <a:t>教育、學習與知識引擎 (Learning &amp; Knowledge Tools)</a:t>
            </a:r>
            <a:endParaRPr lang="zh-TW" altLang="zh-TW" dirty="0"/>
          </a:p>
          <a:p>
            <a:r>
              <a:rPr lang="zh-TW" altLang="zh-TW" b="1" dirty="0"/>
              <a:t>科學計算與知識庫 (Computation &amp; Reference)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502175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240C47-3528-3777-650A-9B2F7E64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人工智慧模型 (AI Large Language Models)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A55E19-37A9-18D7-ACC3-A950A5490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zh-TW" b="1" dirty="0"/>
              <a:t>ChatGPT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最著名的聊天式 AI 模型之一，適用範圍極廣。它擅長文本生成、摘要、翻譯、程式碼編寫等任務。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腦力激盪 (Brainstorming)、內容草稿撰寫、學習新知（提問解答）、複雜邏輯分析模擬。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清晰指令</a:t>
            </a:r>
            <a:r>
              <a:rPr lang="zh-TW" altLang="zh-TW" b="1" dirty="0"/>
              <a:t> (Prompt):</a:t>
            </a:r>
            <a:r>
              <a:rPr lang="zh-TW" altLang="zh-TW" dirty="0"/>
              <a:t> 您提供的提示詞越具體，輸出的結果越準確。建議包含「角色設定」（e.g., 你是一位資深的歷史學教授</a:t>
            </a:r>
            <a:r>
              <a:rPr lang="zh-TW" altLang="zh-TW" i="1" dirty="0"/>
              <a:t>...</a:t>
            </a:r>
            <a:r>
              <a:rPr lang="zh-TW" altLang="zh-TW" dirty="0"/>
              <a:t>）、[任務描述]、和[所需的輸出格式]。</a:t>
            </a:r>
          </a:p>
          <a:p>
            <a:pPr lvl="2"/>
            <a:r>
              <a:rPr lang="zh-TW" altLang="zh-TW" dirty="0"/>
              <a:t>迭代與</a:t>
            </a:r>
            <a:r>
              <a:rPr lang="zh-TW" altLang="zh-TW" b="1" dirty="0"/>
              <a:t> refinement:</a:t>
            </a:r>
            <a:r>
              <a:rPr lang="zh-TW" altLang="zh-TW" dirty="0"/>
              <a:t> 如果初次輸出的內容不符合要求，不要接受直接回答，而是追問（例如：「請將這段文字改成更口語化/專業化」）。</a:t>
            </a:r>
          </a:p>
        </p:txBody>
      </p:sp>
    </p:spTree>
    <p:extLst>
      <p:ext uri="{BB962C8B-B14F-4D97-AF65-F5344CB8AC3E}">
        <p14:creationId xmlns:p14="http://schemas.microsoft.com/office/powerpoint/2010/main" val="250310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D9684F-D28B-92C2-A090-FB72F8B2B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zh-TW" b="1" dirty="0"/>
              <a:t>Google Gemini (</a:t>
            </a:r>
            <a:r>
              <a:rPr lang="zh-TW" altLang="zh-TW" dirty="0"/>
              <a:t>以前名為</a:t>
            </a:r>
            <a:r>
              <a:rPr lang="zh-TW" altLang="zh-TW" b="1" dirty="0"/>
              <a:t> Bard)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結合了 Google 生態系統的強大能力和最新資訊獲取功能。它最大的優勢之一是其與 Google 搜尋引擎的深度整合，能提供最新、最及時的網路資訊。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即時新聞總結、比較多個來源的資料、根據網頁內容進行分析或寫作。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強調即時性需求</a:t>
            </a:r>
            <a:r>
              <a:rPr lang="zh-TW" altLang="zh-TW" b="1" dirty="0"/>
              <a:t>:</a:t>
            </a:r>
            <a:r>
              <a:rPr lang="zh-TW" altLang="zh-TW" dirty="0"/>
              <a:t> 當您需要關於「今天發生的事」或「最新研究成果」時，Gemini 的設計哲學會更利於您獲得即時網路回饋。</a:t>
            </a:r>
          </a:p>
          <a:p>
            <a:pPr lvl="2"/>
            <a:r>
              <a:rPr lang="zh-TW" altLang="zh-TW" dirty="0"/>
              <a:t>資料來源追蹤</a:t>
            </a:r>
            <a:r>
              <a:rPr lang="zh-TW" altLang="zh-TW" b="1" dirty="0"/>
              <a:t>:</a:t>
            </a:r>
            <a:r>
              <a:rPr lang="zh-TW" altLang="zh-TW" dirty="0"/>
              <a:t> 由於深度綁定 Google Search，使用後建議留意其引用的資料連結（Sources），以驗證資訊的權威性和出處。</a:t>
            </a:r>
          </a:p>
        </p:txBody>
      </p:sp>
    </p:spTree>
    <p:extLst>
      <p:ext uri="{BB962C8B-B14F-4D97-AF65-F5344CB8AC3E}">
        <p14:creationId xmlns:p14="http://schemas.microsoft.com/office/powerpoint/2010/main" val="35493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F399D-4DF5-8C53-AC10-B3E11AA1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內容創建與設計工具 (Design &amp; Generative Tools)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241879-05F3-8686-D1A7-ACA2FE018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zh-TW" b="1" dirty="0"/>
              <a:t>Canva Magic Design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一個基於人工智慧的設計功能集，內嵌在化爾達易用性的 Canva 設計平台中。它可以根據您的簡單提示詞（Prompt），自動生成符合特定風格和佈局的完整視覺模板或圖片。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快速製作社群媒體貼文、簡報排版、海報等。對於設計新手極為友好，幾乎不需要掌握設計原理也能出片。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從「模板」切入： 在使用 Magic Design 時，先確認您要製作的最終品類（如 Instagram Stories, A4 Poster），有時直接瀏覽優化過的模板會比純 AI 生成的結果更可靠。</a:t>
            </a:r>
          </a:p>
          <a:p>
            <a:pPr lvl="2"/>
            <a:r>
              <a:rPr lang="zh-TW" altLang="zh-TW" dirty="0"/>
              <a:t>核心流程</a:t>
            </a:r>
            <a:r>
              <a:rPr lang="zh-TW" altLang="zh-TW" b="1" dirty="0"/>
              <a:t>:</a:t>
            </a:r>
            <a:r>
              <a:rPr lang="zh-TW" altLang="zh-TW" dirty="0"/>
              <a:t> 輸入主題文字 → 選擇風格/尺寸限制 → 自動生成多個候選設計稿 → 進去微調細節元素（顏色、字體）。</a:t>
            </a:r>
          </a:p>
        </p:txBody>
      </p:sp>
    </p:spTree>
    <p:extLst>
      <p:ext uri="{BB962C8B-B14F-4D97-AF65-F5344CB8AC3E}">
        <p14:creationId xmlns:p14="http://schemas.microsoft.com/office/powerpoint/2010/main" val="2854025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D0D4E8-D2E5-DE7C-18BA-8D1DE636F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zh-TW" b="1" dirty="0"/>
              <a:t>Gamma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一種專注於「內容到簡報」轉換的工具。與傳統 PPT 工具不同，Gamma 旨在將文字說明或網頁內容，轉化為具有高度美感和現代風格的網頁式、互動式簡報。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用於快速準備提案報告、線上課程介紹，追求的是「視覺敘事」而非靜態投影片。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輸入原始文本： 將您已經寫好的大段文字（例如一份研究背景報告）貼入 Gamma。它會分析內容結構並自動分節、選用適當的圖片和排版。</a:t>
            </a:r>
          </a:p>
          <a:p>
            <a:pPr lvl="2"/>
            <a:r>
              <a:rPr lang="zh-TW" altLang="zh-TW" dirty="0"/>
              <a:t>調整佈局與風格： 生成後，您可以針對整體配色方案和單頁的元素進行微調，強調您希望觀眾注意的重點區塊。</a:t>
            </a:r>
          </a:p>
        </p:txBody>
      </p:sp>
    </p:spTree>
    <p:extLst>
      <p:ext uri="{BB962C8B-B14F-4D97-AF65-F5344CB8AC3E}">
        <p14:creationId xmlns:p14="http://schemas.microsoft.com/office/powerpoint/2010/main" val="409725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0E778-0D51-620D-94AB-B8F2A8C42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教育、學習與知識引擎 (Learning &amp; Knowledge Tools</a:t>
            </a:r>
            <a:r>
              <a:rPr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99F90C-3602-C32A-D261-5977AF469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zh-TW" b="1" dirty="0"/>
              <a:t>Quizlet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一種記憶卡片（flashcards）和學習平台。它將複雜的資訊分解成可快速重複查詢的「關鍵字-定義」對，輔助用戶有效記憶和複習。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考試備考、詞彙背誦（如外語）、專業術語記憶。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資料匯入源： 通常需要使用者提供原始的學習素材（例如一份學科重點清單或生詞名單）。</a:t>
            </a:r>
          </a:p>
          <a:p>
            <a:pPr lvl="2"/>
            <a:r>
              <a:rPr lang="zh-TW" altLang="zh-TW" dirty="0"/>
              <a:t>選擇學習模式</a:t>
            </a:r>
            <a:r>
              <a:rPr lang="zh-TW" altLang="zh-TW" b="1" dirty="0"/>
              <a:t> (Study Sets):</a:t>
            </a:r>
            <a:r>
              <a:rPr lang="zh-TW" altLang="zh-TW" dirty="0"/>
              <a:t> Quizlet 提供多種學習模式，包括「閃卡復習」、「寫作練習」（Type/Test）和「遊戲化複習」，應根據您的記憶需求交替使用。</a:t>
            </a:r>
          </a:p>
        </p:txBody>
      </p:sp>
    </p:spTree>
    <p:extLst>
      <p:ext uri="{BB962C8B-B14F-4D97-AF65-F5344CB8AC3E}">
        <p14:creationId xmlns:p14="http://schemas.microsoft.com/office/powerpoint/2010/main" val="102622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CB6E49-E19C-8B5A-259F-2C8B6E44E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b="1" dirty="0"/>
              <a:t>Padlet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一個虛擬的意見牆 (Virtual Bulletin Board)，讓多方參與者可以協同工作，將各種格式的內容（文字、圖片、連結、影片等）黏貼在一個共同的工作區塊上。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小組討論板、教學活動收集材料、腦力激盪成果展示。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建立牆面</a:t>
            </a:r>
            <a:r>
              <a:rPr lang="zh-TW" altLang="zh-TW" b="1" dirty="0"/>
              <a:t> (Wall):</a:t>
            </a:r>
            <a:r>
              <a:rPr lang="zh-TW" altLang="zh-TW" dirty="0"/>
              <a:t> 創建一個主題的協作板。</a:t>
            </a:r>
          </a:p>
          <a:p>
            <a:pPr lvl="2"/>
            <a:r>
              <a:rPr lang="zh-TW" altLang="zh-TW" dirty="0"/>
              <a:t>分類與歸集： 指派成員，要求他們將特定類型的內容（例如「討論點 A」屬於紅色區塊，「資料來源 B」屬於藍色區塊）貼上去，便於整體資訊的結構化呈現和後續整理。</a:t>
            </a:r>
          </a:p>
        </p:txBody>
      </p:sp>
    </p:spTree>
    <p:extLst>
      <p:ext uri="{BB962C8B-B14F-4D97-AF65-F5344CB8AC3E}">
        <p14:creationId xmlns:p14="http://schemas.microsoft.com/office/powerpoint/2010/main" val="277746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526E77-A029-C921-6D02-439F35AE5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zh-TW" b="1" dirty="0"/>
              <a:t>Teachable Machine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Google 提供的機器學習模型訓練工具。它讓非程式設計師也能透過「錄製範例」，輕鬆建立可以輸入影像、聲音或姿勢資料進行分類（Classification）的 AI 模型。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用於小型專案演示，如實作「手勢識別」、「物體辨識」等概念驗證 (PoC) 模型學科。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定義類別： 首先明確要分類的物件或動作（例如：「貓」、「狗」，這就是兩個類別）。</a:t>
            </a:r>
          </a:p>
          <a:p>
            <a:pPr lvl="2"/>
            <a:r>
              <a:rPr lang="zh-TW" altLang="zh-TW" dirty="0"/>
              <a:t>收集與標記數據</a:t>
            </a:r>
            <a:r>
              <a:rPr lang="zh-TW" altLang="zh-TW" b="1" dirty="0"/>
              <a:t> (Training):</a:t>
            </a:r>
            <a:r>
              <a:rPr lang="zh-TW" altLang="zh-TW" dirty="0"/>
              <a:t> 這是最關鍵的一步。您需要為每一個類別，分別拍攝多種角度、不同光線條件下的樣本圖片或錄音，越多元越多樣化，模型準確度越高。</a:t>
            </a:r>
          </a:p>
          <a:p>
            <a:pPr lvl="2"/>
            <a:r>
              <a:rPr lang="zh-TW" altLang="zh-TW" dirty="0"/>
              <a:t>訓練與測試： 完成輸入後點擊「訓練」，模型會自動學習分類邏輯；訓練完成後需使用未參與訓練的範例進行單次預測測試 (Prediction)。</a:t>
            </a:r>
          </a:p>
        </p:txBody>
      </p:sp>
    </p:spTree>
    <p:extLst>
      <p:ext uri="{BB962C8B-B14F-4D97-AF65-F5344CB8AC3E}">
        <p14:creationId xmlns:p14="http://schemas.microsoft.com/office/powerpoint/2010/main" val="2706219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7C9EE5B-B7C4-AC23-C6A6-D0AFABE9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科學計算與知識庫 (Computation &amp; Reference)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F6A8DA-2829-42AC-CE36-40E4F39B0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zh-TW" b="1" dirty="0"/>
              <a:t>Wolfram Alpha</a:t>
            </a:r>
            <a:endParaRPr lang="zh-TW" altLang="zh-TW" dirty="0"/>
          </a:p>
          <a:p>
            <a:pPr lvl="1"/>
            <a:r>
              <a:rPr lang="zh-TW" altLang="zh-TW" dirty="0"/>
              <a:t>類型</a:t>
            </a:r>
            <a:r>
              <a:rPr lang="zh-TW" altLang="zh-TW" b="1" dirty="0"/>
              <a:t>/</a:t>
            </a:r>
            <a:r>
              <a:rPr lang="zh-TW" altLang="zh-TW" dirty="0"/>
              <a:t>核心機能</a:t>
            </a:r>
            <a:r>
              <a:rPr lang="zh-TW" altLang="zh-TW" b="1" dirty="0"/>
              <a:t>:</a:t>
            </a:r>
            <a:r>
              <a:rPr lang="zh-TW" altLang="zh-TW" dirty="0"/>
              <a:t> 不僅是一個搜尋引擎，它更像一個「計算知識圖譜」。它可以處理數學、科學事實、地理統計、化學元素等大量的結構化數據查詢，並提供完整的計算過程或相關信息。</a:t>
            </a:r>
          </a:p>
          <a:p>
            <a:pPr lvl="1"/>
            <a:r>
              <a:rPr lang="zh-TW" altLang="zh-TW" dirty="0"/>
              <a:t>主要用途</a:t>
            </a:r>
            <a:r>
              <a:rPr lang="zh-TW" altLang="zh-TW" b="1" dirty="0"/>
              <a:t>:</a:t>
            </a:r>
            <a:r>
              <a:rPr lang="zh-TW" altLang="zh-TW" dirty="0"/>
              <a:t> 需要極高精準度的資料驗證、數學公式解析（e.g., 求解特定的微分方程）、物理常數查閱、時間地點的複雜轉換。</a:t>
            </a:r>
          </a:p>
          <a:p>
            <a:pPr lvl="1"/>
            <a:r>
              <a:rPr lang="zh-TW" altLang="zh-TW" dirty="0"/>
              <a:t>基本操作指引</a:t>
            </a:r>
            <a:r>
              <a:rPr lang="zh-TW" altLang="zh-TW" b="1" dirty="0"/>
              <a:t>:</a:t>
            </a:r>
            <a:endParaRPr lang="zh-TW" altLang="zh-TW" dirty="0"/>
          </a:p>
          <a:p>
            <a:pPr lvl="2"/>
            <a:r>
              <a:rPr lang="zh-TW" altLang="zh-TW" dirty="0"/>
              <a:t>從計算角度思考問題： 不要將它當作一般問答平台使用。「什麼是光速？」可能得到一段文字，但「假設物體以 光速運動時產生多少能量？」則會直接提供一個數值和相關公式。</a:t>
            </a:r>
          </a:p>
          <a:p>
            <a:pPr lvl="2"/>
            <a:r>
              <a:rPr lang="zh-TW" altLang="zh-TW" dirty="0"/>
              <a:t>利用語法： 有些複雜的語法或科學術語，輸入 Wolfram Alpha 比在一般搜尋引擎更能觸及其內建的高級計算核心。</a:t>
            </a:r>
          </a:p>
        </p:txBody>
      </p:sp>
    </p:spTree>
    <p:extLst>
      <p:ext uri="{BB962C8B-B14F-4D97-AF65-F5344CB8AC3E}">
        <p14:creationId xmlns:p14="http://schemas.microsoft.com/office/powerpoint/2010/main" val="469348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4B9F975-8E89-0A1F-5C84-B39B305C7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595" y="68262"/>
            <a:ext cx="11018810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62487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18B14D-505E-E290-C53C-4FD8FE88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本地開源模型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60AA31-37C8-1F40-EB19-A3B27EC46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本地部署 </a:t>
            </a:r>
            <a:r>
              <a:rPr kumimoji="1" lang="en-US" altLang="zh-TW" dirty="0"/>
              <a:t>LLM </a:t>
            </a:r>
            <a:r>
              <a:rPr kumimoji="1" lang="zh-TW" altLang="en-US" dirty="0"/>
              <a:t>是一個複雜且資源密集型的過程，電腦規格（尤其是 </a:t>
            </a:r>
            <a:r>
              <a:rPr kumimoji="1" lang="en-US" altLang="zh-TW" dirty="0"/>
              <a:t>GPU</a:t>
            </a:r>
            <a:r>
              <a:rPr kumimoji="1" lang="zh-TW" altLang="en-US" dirty="0"/>
              <a:t>）會決定能否順利運作以及運行速度。</a:t>
            </a:r>
            <a:endParaRPr kumimoji="1" lang="en-US" altLang="zh-TW" dirty="0"/>
          </a:p>
          <a:p>
            <a:r>
              <a:rPr kumimoji="1" lang="zh-TW" altLang="en-US" b="1" dirty="0"/>
              <a:t>本地開源模型是什麼？</a:t>
            </a:r>
          </a:p>
          <a:p>
            <a:pPr lvl="1"/>
            <a:r>
              <a:rPr kumimoji="1" lang="zh-TW" altLang="en-US" dirty="0"/>
              <a:t>指的是使用公開權重的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模型（如 </a:t>
            </a:r>
            <a:r>
              <a:rPr kumimoji="1" lang="en-US" altLang="zh-TW" dirty="0"/>
              <a:t>Llama, Mistral </a:t>
            </a:r>
            <a:r>
              <a:rPr kumimoji="1" lang="zh-TW" altLang="en-US" dirty="0"/>
              <a:t>系列），將這些模型的全部推理過程，從雲端 </a:t>
            </a:r>
            <a:r>
              <a:rPr kumimoji="1" lang="en-US" altLang="zh-TW" dirty="0"/>
              <a:t>API </a:t>
            </a:r>
            <a:r>
              <a:rPr kumimoji="1" lang="zh-TW" altLang="en-US" dirty="0"/>
              <a:t>服務轉移到自己本地的硬體上完成計算。它們通常以 </a:t>
            </a:r>
            <a:r>
              <a:rPr kumimoji="1" lang="en-US" altLang="zh-TW" dirty="0"/>
              <a:t>weights(</a:t>
            </a:r>
            <a:r>
              <a:rPr kumimoji="1" lang="zh-TW" altLang="en-US" dirty="0"/>
              <a:t>權重</a:t>
            </a:r>
            <a:r>
              <a:rPr kumimoji="1" lang="en-US" altLang="zh-TW" dirty="0"/>
              <a:t>) </a:t>
            </a:r>
            <a:r>
              <a:rPr kumimoji="1" lang="zh-TW" altLang="en-US" dirty="0"/>
              <a:t>的形式存在。</a:t>
            </a:r>
          </a:p>
        </p:txBody>
      </p:sp>
    </p:spTree>
    <p:extLst>
      <p:ext uri="{BB962C8B-B14F-4D97-AF65-F5344CB8AC3E}">
        <p14:creationId xmlns:p14="http://schemas.microsoft.com/office/powerpoint/2010/main" val="20892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5651B-A1D5-0E68-95F7-2928F847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67" y="365125"/>
            <a:ext cx="11620982" cy="1325563"/>
          </a:xfrm>
        </p:spPr>
        <p:txBody>
          <a:bodyPr anchor="ctr">
            <a:normAutofit/>
          </a:bodyPr>
          <a:lstStyle/>
          <a:p>
            <a:r>
              <a:rPr kumimoji="1" lang="zh-TW" altLang="en-US" dirty="0"/>
              <a:t>為何選擇本地模型？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4801B1A-EBBC-B15D-9983-925706BF4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367" y="2505092"/>
            <a:ext cx="11620982" cy="29924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65858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225A9-B812-7E95-3677-2AAF91CC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 操作與實作指引：四個層次作業流程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E1A357-0F7F-1063-44E8-C62D3ABB5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本地化 </a:t>
            </a:r>
            <a:r>
              <a:rPr kumimoji="1" lang="en-US" altLang="zh-TW" dirty="0"/>
              <a:t>LLM </a:t>
            </a:r>
            <a:r>
              <a:rPr kumimoji="1" lang="zh-TW" altLang="en-US" dirty="0"/>
              <a:t>的流程可以被劃分為：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「硬體」準備、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「軟體」框架、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「模型」選擇 和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「運行測試」四個階段。</a:t>
            </a:r>
          </a:p>
        </p:txBody>
      </p:sp>
    </p:spTree>
    <p:extLst>
      <p:ext uri="{BB962C8B-B14F-4D97-AF65-F5344CB8AC3E}">
        <p14:creationId xmlns:p14="http://schemas.microsoft.com/office/powerpoint/2010/main" val="2271818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3EDF0-C47F-C050-3169-AD391183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步驟一：硬體環境準備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9960B-2369-8E71-D6C6-0C6D529F9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TW" b="1" dirty="0"/>
              <a:t>GPU (</a:t>
            </a:r>
            <a:r>
              <a:rPr kumimoji="1" lang="zh-TW" altLang="en-US" b="1" dirty="0"/>
              <a:t>圖形處理單元</a:t>
            </a:r>
            <a:r>
              <a:rPr kumimoji="1" lang="en-US" altLang="zh-TW" b="1" dirty="0"/>
              <a:t>):</a:t>
            </a:r>
          </a:p>
          <a:p>
            <a:pPr lvl="1"/>
            <a:r>
              <a:rPr kumimoji="1" lang="zh-TW" altLang="en-US" dirty="0"/>
              <a:t>這是能否成功本地運行的決定因素。建議至少搭配 </a:t>
            </a:r>
            <a:r>
              <a:rPr kumimoji="1" lang="en-US" altLang="zh-TW" dirty="0"/>
              <a:t>NVIDIA GPU</a:t>
            </a:r>
            <a:r>
              <a:rPr kumimoji="1" lang="zh-TW" altLang="en-US" dirty="0"/>
              <a:t>，因為其與深度學習生態系的最佳兼容性最高。（如果您使用 </a:t>
            </a:r>
            <a:r>
              <a:rPr kumimoji="1" lang="en-US" altLang="zh-TW" dirty="0"/>
              <a:t>AMD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Apple Silicon M</a:t>
            </a:r>
            <a:r>
              <a:rPr kumimoji="1" lang="zh-TW" altLang="en-US" dirty="0"/>
              <a:t>系列晶片，需要額外的框架支援）。</a:t>
            </a:r>
          </a:p>
          <a:p>
            <a:r>
              <a:rPr kumimoji="1" lang="en-US" altLang="zh-TW" b="1" dirty="0"/>
              <a:t>VRAM </a:t>
            </a:r>
            <a:r>
              <a:rPr kumimoji="1" lang="zh-TW" altLang="en-US" b="1" dirty="0"/>
              <a:t>需求</a:t>
            </a:r>
            <a:r>
              <a:rPr kumimoji="1" lang="en-US" altLang="zh-TW" dirty="0"/>
              <a:t>:</a:t>
            </a:r>
          </a:p>
          <a:p>
            <a:pPr lvl="1"/>
            <a:r>
              <a:rPr kumimoji="1" lang="zh-TW" altLang="en-US" dirty="0"/>
              <a:t>模型越大，需要的顯示器記憶體 </a:t>
            </a:r>
            <a:r>
              <a:rPr kumimoji="1" lang="en-US" altLang="zh-TW" dirty="0"/>
              <a:t>(VRAM) </a:t>
            </a:r>
            <a:r>
              <a:rPr kumimoji="1" lang="zh-TW" altLang="en-US" dirty="0"/>
              <a:t>就越多。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一般規則是：一個主流模型（如 </a:t>
            </a:r>
            <a:r>
              <a:rPr kumimoji="1" lang="en-US" altLang="zh-TW" dirty="0">
                <a:solidFill>
                  <a:srgbClr val="FF0000"/>
                </a:solidFill>
              </a:rPr>
              <a:t>7B</a:t>
            </a:r>
            <a:r>
              <a:rPr kumimoji="1" lang="en-US" altLang="zh-TW" dirty="0"/>
              <a:t>-</a:t>
            </a:r>
            <a:r>
              <a:rPr kumimoji="1" lang="en-US" altLang="zh-TW" dirty="0">
                <a:solidFill>
                  <a:schemeClr val="accent6"/>
                </a:solidFill>
              </a:rPr>
              <a:t>13B</a:t>
            </a:r>
            <a:r>
              <a:rPr kumimoji="1" lang="zh-TW" altLang="en-US" dirty="0"/>
              <a:t>）至少需要 </a:t>
            </a:r>
            <a:r>
              <a:rPr kumimoji="1" lang="en-US" altLang="zh-TW" dirty="0">
                <a:solidFill>
                  <a:srgbClr val="FF0000"/>
                </a:solidFill>
              </a:rPr>
              <a:t>8GB</a:t>
            </a:r>
            <a:r>
              <a:rPr kumimoji="1" lang="en-US" altLang="zh-TW" dirty="0"/>
              <a:t> ~ </a:t>
            </a:r>
            <a:r>
              <a:rPr kumimoji="1" lang="en-US" altLang="zh-TW" dirty="0">
                <a:solidFill>
                  <a:schemeClr val="accent6"/>
                </a:solidFill>
              </a:rPr>
              <a:t>16GB</a:t>
            </a:r>
            <a:r>
              <a:rPr kumimoji="1" lang="en-US" altLang="zh-TW" dirty="0"/>
              <a:t> VRAM </a:t>
            </a:r>
            <a:r>
              <a:rPr kumimoji="1" lang="zh-TW" altLang="en-US" dirty="0"/>
              <a:t>才能流暢運行。</a:t>
            </a:r>
          </a:p>
        </p:txBody>
      </p:sp>
    </p:spTree>
    <p:extLst>
      <p:ext uri="{BB962C8B-B14F-4D97-AF65-F5344CB8AC3E}">
        <p14:creationId xmlns:p14="http://schemas.microsoft.com/office/powerpoint/2010/main" val="914164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53BFD0-0A53-5032-80C3-83D9D744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步驟二：軟體框架的選擇與建置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DBFF13-6B29-86D0-CD29-68695AAFC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TW" altLang="en-US" dirty="0"/>
              <a:t>由於推理過程複雜，我們不需要從零開始編寫代碼，而是要依賴現成的「執行引擎」。這是操作中最需要選對工具的部分。</a:t>
            </a:r>
          </a:p>
          <a:p>
            <a:r>
              <a:rPr kumimoji="1" lang="en-US" altLang="zh-TW" dirty="0"/>
              <a:t>[</a:t>
            </a:r>
            <a:r>
              <a:rPr kumimoji="1" lang="zh-TW" altLang="en-US" dirty="0"/>
              <a:t>首選</a:t>
            </a:r>
            <a:r>
              <a:rPr kumimoji="1" lang="en-US" altLang="zh-TW" dirty="0"/>
              <a:t>] </a:t>
            </a:r>
            <a:r>
              <a:rPr kumimoji="1" lang="en-US" altLang="zh-TW" dirty="0" err="1"/>
              <a:t>Ollama</a:t>
            </a:r>
            <a:r>
              <a:rPr kumimoji="1" lang="en-US" altLang="zh-TW" dirty="0"/>
              <a:t>:</a:t>
            </a:r>
          </a:p>
          <a:p>
            <a:pPr lvl="1"/>
            <a:r>
              <a:rPr kumimoji="1" lang="zh-TW" altLang="en-US" dirty="0"/>
              <a:t>描述： 最簡易、最友善的本地模型管理系統。提供一個單一的主機介面與 </a:t>
            </a:r>
            <a:r>
              <a:rPr kumimoji="1" lang="en-US" altLang="zh-TW" dirty="0"/>
              <a:t>API </a:t>
            </a:r>
            <a:r>
              <a:rPr kumimoji="1" lang="zh-TW" altLang="en-US" dirty="0"/>
              <a:t>接口，您只需輸入指令即可下載和運行多種主流模型，極大地簡化了複雜的環境配置。</a:t>
            </a:r>
          </a:p>
          <a:p>
            <a:pPr lvl="1"/>
            <a:r>
              <a:rPr kumimoji="1" lang="zh-TW" altLang="en-US" dirty="0"/>
              <a:t>使用目的： 初學者、追求快速啟用或測試不同模型的首選工具。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92350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92F230-8A52-C239-227B-CA51615C4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中級</a:t>
            </a:r>
            <a:r>
              <a:rPr kumimoji="1" lang="en-US" altLang="zh-TW" dirty="0"/>
              <a:t>]</a:t>
            </a:r>
            <a:r>
              <a:rPr kumimoji="1" lang="zh-TW" altLang="en-US" dirty="0"/>
              <a:t> </a:t>
            </a:r>
            <a:r>
              <a:rPr kumimoji="1" lang="en-US" altLang="zh-TW" dirty="0"/>
              <a:t>LM-Studio</a:t>
            </a:r>
          </a:p>
          <a:p>
            <a:pPr lvl="1"/>
            <a:r>
              <a:rPr kumimoji="1" lang="zh-TW" altLang="en-US" dirty="0"/>
              <a:t>描述：</a:t>
            </a:r>
            <a:r>
              <a:rPr kumimoji="1" lang="en-US" altLang="zh-TW" dirty="0"/>
              <a:t>LM Studio </a:t>
            </a:r>
            <a:r>
              <a:rPr kumimoji="1" lang="zh-TW" altLang="en-US" dirty="0"/>
              <a:t>是一個桌面應用程式，用來在你自己的電腦上下載、執行、管理本地大型語言模型（</a:t>
            </a:r>
            <a:r>
              <a:rPr kumimoji="1" lang="en-US" altLang="zh-TW" dirty="0"/>
              <a:t>LLM</a:t>
            </a:r>
            <a:r>
              <a:rPr kumimoji="1" lang="zh-TW" altLang="en-US" dirty="0"/>
              <a:t>），並可提供聊天介面與本地 </a:t>
            </a:r>
            <a:r>
              <a:rPr kumimoji="1" lang="en-US" altLang="zh-TW" dirty="0"/>
              <a:t>API </a:t>
            </a:r>
            <a:r>
              <a:rPr kumimoji="1" lang="zh-TW" altLang="en-US" dirty="0"/>
              <a:t>服務。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使用目的：本機測試與體驗不同 </a:t>
            </a:r>
            <a:r>
              <a:rPr kumimoji="1" lang="en-US" altLang="zh-TW" dirty="0"/>
              <a:t>LLM</a:t>
            </a:r>
            <a:r>
              <a:rPr kumimoji="1" lang="zh-TW" altLang="en-US" dirty="0"/>
              <a:t>。保護隱私，在不把資料送到雲端的情況下做推理或文件問答。透過 </a:t>
            </a:r>
            <a:r>
              <a:rPr kumimoji="1" lang="en-US" altLang="zh-TW" dirty="0"/>
              <a:t>OpenAI </a:t>
            </a:r>
            <a:r>
              <a:rPr kumimoji="1" lang="zh-TW" altLang="en-US" dirty="0"/>
              <a:t>相容的本地 </a:t>
            </a:r>
            <a:r>
              <a:rPr kumimoji="1" lang="en-US" altLang="zh-TW" dirty="0"/>
              <a:t>API</a:t>
            </a:r>
            <a:r>
              <a:rPr kumimoji="1" lang="zh-TW" altLang="en-US" dirty="0"/>
              <a:t>，把模型接到自己的程式、腳本或後端服務。方便開發者做模型比較、效能調校與離線部署驗證。</a:t>
            </a:r>
          </a:p>
        </p:txBody>
      </p:sp>
    </p:spTree>
    <p:extLst>
      <p:ext uri="{BB962C8B-B14F-4D97-AF65-F5344CB8AC3E}">
        <p14:creationId xmlns:p14="http://schemas.microsoft.com/office/powerpoint/2010/main" val="2764755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C39B22D-D293-682D-F0C9-8DA812713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高級</a:t>
            </a:r>
            <a:r>
              <a:rPr kumimoji="1" lang="en-US" altLang="zh-TW" dirty="0"/>
              <a:t>] </a:t>
            </a:r>
            <a:r>
              <a:rPr kumimoji="1" lang="en-US" altLang="zh-TW" dirty="0" err="1"/>
              <a:t>Llama.cpp</a:t>
            </a:r>
            <a:r>
              <a:rPr kumimoji="1" lang="en-US" altLang="zh-TW" dirty="0"/>
              <a:t> / llama-</a:t>
            </a:r>
            <a:r>
              <a:rPr kumimoji="1" lang="en-US" altLang="zh-TW" dirty="0" err="1"/>
              <a:t>cpp</a:t>
            </a:r>
            <a:r>
              <a:rPr kumimoji="1" lang="en-US" altLang="zh-TW" dirty="0"/>
              <a:t>-python:</a:t>
            </a:r>
          </a:p>
          <a:p>
            <a:pPr lvl="1"/>
            <a:r>
              <a:rPr kumimoji="1" lang="zh-TW" altLang="en-US" dirty="0"/>
              <a:t>描述： 一個高效能的 </a:t>
            </a:r>
            <a:r>
              <a:rPr kumimoji="1" lang="en-US" altLang="zh-TW" dirty="0"/>
              <a:t>C++ </a:t>
            </a:r>
            <a:r>
              <a:rPr kumimoji="1" lang="zh-TW" altLang="en-US" dirty="0"/>
              <a:t>庫，專門優化了在資源有限設備（如 </a:t>
            </a:r>
            <a:r>
              <a:rPr kumimoji="1" lang="en-US" altLang="zh-TW" dirty="0"/>
              <a:t>CPU </a:t>
            </a:r>
            <a:r>
              <a:rPr kumimoji="1" lang="zh-TW" altLang="en-US" dirty="0"/>
              <a:t>或低階 </a:t>
            </a:r>
            <a:r>
              <a:rPr kumimoji="1" lang="en-US" altLang="zh-TW" dirty="0"/>
              <a:t>GPU</a:t>
            </a:r>
            <a:r>
              <a:rPr kumimoji="1" lang="zh-TW" altLang="en-US" dirty="0"/>
              <a:t>）上運行大模型的性能。它使用了 </a:t>
            </a:r>
            <a:r>
              <a:rPr kumimoji="1" lang="en-US" altLang="zh-TW" dirty="0"/>
              <a:t>GGUF </a:t>
            </a:r>
            <a:r>
              <a:rPr kumimoji="1" lang="zh-TW" altLang="en-US" dirty="0"/>
              <a:t>這個檔案格式來實現模型壓縮和跨平台兼容性。</a:t>
            </a:r>
          </a:p>
          <a:p>
            <a:pPr lvl="1"/>
            <a:r>
              <a:rPr kumimoji="1" lang="zh-TW" altLang="en-US" dirty="0"/>
              <a:t>使用目的： 當您的硬體規格不如預期時；需要極致的效率優化。</a:t>
            </a:r>
          </a:p>
        </p:txBody>
      </p:sp>
    </p:spTree>
    <p:extLst>
      <p:ext uri="{BB962C8B-B14F-4D97-AF65-F5344CB8AC3E}">
        <p14:creationId xmlns:p14="http://schemas.microsoft.com/office/powerpoint/2010/main" val="3037804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9F73D6-0C84-CB85-CA78-5448C613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步驟三：模型選擇與量化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BE1EA0-20FB-9206-C962-7FE49F92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zh-TW" altLang="en-US" dirty="0"/>
              <a:t>你不能下載原始的「浮點數 </a:t>
            </a:r>
            <a:r>
              <a:rPr kumimoji="1" lang="en-US" altLang="zh-TW" dirty="0"/>
              <a:t>(FP)</a:t>
            </a:r>
            <a:r>
              <a:rPr kumimoji="1" lang="zh-TW" altLang="en-US" dirty="0"/>
              <a:t>（例如 </a:t>
            </a:r>
            <a:r>
              <a:rPr kumimoji="1" lang="en-US" altLang="zh-TW" dirty="0"/>
              <a:t>fp32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bf16</a:t>
            </a:r>
            <a:r>
              <a:rPr kumimoji="1" lang="zh-TW" altLang="en-US" dirty="0"/>
              <a:t>）模型，因為它們太大且要求最高階硬體。您需要使用量化 </a:t>
            </a:r>
            <a:r>
              <a:rPr kumimoji="1" lang="en-US" altLang="zh-TW" dirty="0"/>
              <a:t>(Quantization) </a:t>
            </a:r>
            <a:r>
              <a:rPr kumimoji="1" lang="zh-TW" altLang="en-US" dirty="0"/>
              <a:t>的模型版本。</a:t>
            </a:r>
          </a:p>
          <a:p>
            <a:r>
              <a:rPr kumimoji="1" lang="zh-TW" altLang="en-US" dirty="0"/>
              <a:t>什麼是量化？ 它是將模型的權重從高精度的浮點數（例如 </a:t>
            </a:r>
            <a:r>
              <a:rPr kumimoji="1" lang="en-US" altLang="zh-TW" dirty="0"/>
              <a:t>32 </a:t>
            </a:r>
            <a:r>
              <a:rPr kumimoji="1" lang="zh-TW" altLang="en-US" dirty="0"/>
              <a:t>位元）壓縮到更低的精度（如 </a:t>
            </a:r>
            <a:r>
              <a:rPr kumimoji="1" lang="en-US" altLang="zh-TW" dirty="0"/>
              <a:t>4 </a:t>
            </a:r>
            <a:r>
              <a:rPr kumimoji="1" lang="zh-TW" altLang="en-US" dirty="0"/>
              <a:t>位元，即 </a:t>
            </a:r>
            <a:r>
              <a:rPr kumimoji="1" lang="en-US" altLang="zh-TW" dirty="0"/>
              <a:t>Q4_K_M</a:t>
            </a:r>
            <a:r>
              <a:rPr kumimoji="1" lang="zh-TW" altLang="en-US" dirty="0"/>
              <a:t>），大幅減小檔案大小和記憶體佔用，以犧牲極微小的準確性換來巨大的運算效率。</a:t>
            </a:r>
          </a:p>
          <a:p>
            <a:pPr lvl="1"/>
            <a:r>
              <a:rPr kumimoji="1" lang="zh-TW" altLang="en-US" dirty="0"/>
              <a:t>常見的本地模型系列</a:t>
            </a:r>
            <a:r>
              <a:rPr kumimoji="1" lang="en-US" altLang="zh-TW" dirty="0"/>
              <a:t>: Llama 3, Mistral, </a:t>
            </a:r>
            <a:r>
              <a:rPr kumimoji="1" lang="en-US" altLang="zh-TW" dirty="0" err="1"/>
              <a:t>Mixtral</a:t>
            </a:r>
            <a:r>
              <a:rPr kumimoji="1" lang="en-US" altLang="zh-TW" dirty="0"/>
              <a:t> </a:t>
            </a:r>
            <a:r>
              <a:rPr kumimoji="1" lang="zh-TW" altLang="en-US" dirty="0"/>
              <a:t>等 </a:t>
            </a:r>
            <a:r>
              <a:rPr kumimoji="1" lang="en-US" altLang="zh-TW" dirty="0"/>
              <a:t>(</a:t>
            </a:r>
            <a:r>
              <a:rPr kumimoji="1" lang="zh-TW" altLang="en-US" dirty="0"/>
              <a:t>這些是模型的「大腦」</a:t>
            </a:r>
            <a:r>
              <a:rPr kumimoji="1" lang="en-US" altLang="zh-TW" dirty="0"/>
              <a:t>)</a:t>
            </a:r>
            <a:r>
              <a:rPr kumimoji="1" lang="zh-TW" altLang="en-US" dirty="0"/>
              <a:t>。</a:t>
            </a:r>
          </a:p>
          <a:p>
            <a:pPr lvl="1"/>
            <a:r>
              <a:rPr kumimoji="1" lang="zh-TW" altLang="en-US" dirty="0"/>
              <a:t>操作指引： 當您使用 </a:t>
            </a:r>
            <a:r>
              <a:rPr kumimoji="1" lang="en-US" altLang="zh-TW" dirty="0" err="1"/>
              <a:t>Ollama</a:t>
            </a:r>
            <a:r>
              <a:rPr kumimoji="1" lang="en-US" altLang="zh-TW" dirty="0"/>
              <a:t> </a:t>
            </a:r>
            <a:r>
              <a:rPr kumimoji="1" lang="zh-TW" altLang="en-US" dirty="0"/>
              <a:t>或特定工具時，通常會看到一個包含「量化等級」的模型名稱（例如 </a:t>
            </a:r>
            <a:r>
              <a:rPr kumimoji="1" lang="en-US" altLang="zh-TW" dirty="0"/>
              <a:t>llama3:8b-instruct-q4_K_M</a:t>
            </a:r>
            <a:r>
              <a:rPr kumimoji="1" lang="zh-TW" altLang="en-US" dirty="0"/>
              <a:t>）。這表示的是 </a:t>
            </a:r>
            <a:r>
              <a:rPr kumimoji="1" lang="en-US" altLang="zh-TW" dirty="0"/>
              <a:t>Llama 3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8B parameter </a:t>
            </a:r>
            <a:r>
              <a:rPr kumimoji="1" lang="zh-TW" altLang="en-US" dirty="0"/>
              <a:t>版本，並且已經經過高效能的 </a:t>
            </a:r>
            <a:r>
              <a:rPr kumimoji="1" lang="en-US" altLang="zh-TW" dirty="0"/>
              <a:t>4 </a:t>
            </a:r>
            <a:r>
              <a:rPr kumimoji="1" lang="zh-TW" altLang="en-US" dirty="0"/>
              <a:t>位元壓縮。</a:t>
            </a:r>
          </a:p>
        </p:txBody>
      </p:sp>
    </p:spTree>
    <p:extLst>
      <p:ext uri="{BB962C8B-B14F-4D97-AF65-F5344CB8AC3E}">
        <p14:creationId xmlns:p14="http://schemas.microsoft.com/office/powerpoint/2010/main" val="3946113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1FBD1A-FCE2-F3D5-E9AE-F26D4EA0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實際操作與提示詞工程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E97A1-A616-BCB6-4E7D-680A400E4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zh-TW" dirty="0"/>
              <a:t>一旦環境建立完成並成功載入模型，您只需透過 API 或終端機介面互動即可。這階段的操作技巧，其實和使用任何 LLM 的「提示詞工程 (Prompt Engineering)」沒有區別。</a:t>
            </a:r>
          </a:p>
          <a:p>
            <a:pPr lvl="1"/>
            <a:r>
              <a:rPr lang="zh-TW" altLang="zh-TW" dirty="0"/>
              <a:t>重點： 必須明確告訴模型它扮演的角色</a:t>
            </a:r>
            <a:r>
              <a:rPr lang="zh-TW" altLang="zh-TW" b="1" dirty="0"/>
              <a:t> (Role)</a:t>
            </a:r>
            <a:r>
              <a:rPr lang="zh-TW" altLang="zh-TW" dirty="0"/>
              <a:t>、執行的任務</a:t>
            </a:r>
            <a:r>
              <a:rPr lang="zh-TW" altLang="zh-TW" b="1" dirty="0"/>
              <a:t> (Task)</a:t>
            </a:r>
            <a:r>
              <a:rPr lang="zh-TW" altLang="zh-TW" dirty="0"/>
              <a:t> 和預期的輸出格式</a:t>
            </a:r>
            <a:r>
              <a:rPr lang="zh-TW" altLang="zh-TW" b="1" dirty="0"/>
              <a:t> (Format)</a:t>
            </a:r>
            <a:r>
              <a:rPr lang="zh-TW" altLang="zh-TW" dirty="0"/>
              <a:t>。</a:t>
            </a:r>
          </a:p>
          <a:p>
            <a:pPr lvl="1"/>
            <a:r>
              <a:rPr lang="zh-TW" altLang="zh-TW" dirty="0"/>
              <a:t>範例指令</a:t>
            </a:r>
            <a:r>
              <a:rPr lang="zh-TW" altLang="zh-TW" b="1" dirty="0"/>
              <a:t>:</a:t>
            </a:r>
            <a:r>
              <a:rPr lang="zh-TW" altLang="zh-TW" dirty="0"/>
              <a:t> 您不應該只說：「談論開源模型。」，而是應寫成：「身為一位資深的 AI 技術顧問，請根據我提供的以下資料（</a:t>
            </a:r>
            <a:r>
              <a:rPr lang="en-US" altLang="zh-TW" dirty="0"/>
              <a:t>……</a:t>
            </a:r>
            <a:r>
              <a:rPr lang="zh-TW" altLang="zh-TW" dirty="0"/>
              <a:t>），以專業的語氣撰寫一篇 500 字的文章大綱。輸出格式必須包含 H2標題和 Markdown 清單，最後新增一個『關鍵爭議點』章節。」</a:t>
            </a:r>
          </a:p>
        </p:txBody>
      </p:sp>
    </p:spTree>
    <p:extLst>
      <p:ext uri="{BB962C8B-B14F-4D97-AF65-F5344CB8AC3E}">
        <p14:creationId xmlns:p14="http://schemas.microsoft.com/office/powerpoint/2010/main" val="415379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E7D7A-D3B9-0317-48DA-35038284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總結重點提醒 (Summary Checklist)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580521-D325-89F4-974B-F73B2BE1E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目標定位： 本地模型 = 隱私優先、可客製化高、硬體要求極嚴格。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環境選擇</a:t>
            </a:r>
            <a:r>
              <a:rPr lang="zh-TW" altLang="zh-TW" b="1" dirty="0"/>
              <a:t> (</a:t>
            </a:r>
            <a:r>
              <a:rPr lang="zh-TW" altLang="zh-TW" dirty="0"/>
              <a:t>新手</a:t>
            </a:r>
            <a:r>
              <a:rPr lang="zh-TW" altLang="zh-TW" b="1" dirty="0"/>
              <a:t>)</a:t>
            </a:r>
            <a:r>
              <a:rPr lang="zh-TW" altLang="zh-TW" dirty="0"/>
              <a:t>： 先從 </a:t>
            </a:r>
            <a:r>
              <a:rPr lang="zh-TW" altLang="zh-TW" b="1" dirty="0"/>
              <a:t>Ollama</a:t>
            </a:r>
            <a:r>
              <a:rPr lang="zh-TW" altLang="zh-TW" dirty="0"/>
              <a:t> </a:t>
            </a:r>
            <a:r>
              <a:rPr lang="zh-TW" altLang="en-US" dirty="0"/>
              <a:t>或</a:t>
            </a:r>
            <a:r>
              <a:rPr lang="en-US" altLang="zh-TW" dirty="0"/>
              <a:t>LM Studio </a:t>
            </a:r>
            <a:r>
              <a:rPr lang="zh-TW" altLang="zh-TW" dirty="0"/>
              <a:t>開始，它能幫您繞過大部分複雜的環境配置問題。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資源考量： 優先確認您的 GPU 和 VRAM，這是無法用軟體解決的決定性因素。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模型版本： 務必尋找使用 GGUF 或相關 quantization 的版本，以確保可以在非專業資料中心設備上執行。</a:t>
            </a:r>
          </a:p>
        </p:txBody>
      </p:sp>
    </p:spTree>
    <p:extLst>
      <p:ext uri="{BB962C8B-B14F-4D97-AF65-F5344CB8AC3E}">
        <p14:creationId xmlns:p14="http://schemas.microsoft.com/office/powerpoint/2010/main" val="327444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76EE2CC4-443D-E34E-8D47-BB265CC4369E}" vid="{D5E54EDD-2BC6-FB42-974D-59040F4B11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42</TotalTime>
  <Words>2345</Words>
  <Application>Microsoft Macintosh PowerPoint</Application>
  <PresentationFormat>寬螢幕</PresentationFormat>
  <Paragraphs>102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微軟正黑體</vt:lpstr>
      <vt:lpstr>Arial</vt:lpstr>
      <vt:lpstr>Consolas</vt:lpstr>
      <vt:lpstr>Office 佈景主題</vt:lpstr>
      <vt:lpstr>常用ＡＩ工具介紹</vt:lpstr>
      <vt:lpstr>分類</vt:lpstr>
      <vt:lpstr>人工智慧模型 (AI Large Language Models)</vt:lpstr>
      <vt:lpstr>PowerPoint 簡報</vt:lpstr>
      <vt:lpstr>內容創建與設計工具 (Design &amp; Generative Tools)</vt:lpstr>
      <vt:lpstr>PowerPoint 簡報</vt:lpstr>
      <vt:lpstr>教育、學習與知識引擎 (Learning &amp; Knowledge Tools)</vt:lpstr>
      <vt:lpstr>PowerPoint 簡報</vt:lpstr>
      <vt:lpstr>PowerPoint 簡報</vt:lpstr>
      <vt:lpstr>科學計算與知識庫 (Computation &amp; Reference)</vt:lpstr>
      <vt:lpstr>PowerPoint 簡報</vt:lpstr>
      <vt:lpstr>本地開源模型</vt:lpstr>
      <vt:lpstr>為何選擇本地模型？</vt:lpstr>
      <vt:lpstr> 操作與實作指引：四個層次作業流程 </vt:lpstr>
      <vt:lpstr>步驟一：硬體環境準備</vt:lpstr>
      <vt:lpstr>步驟二：軟體框架的選擇與建置</vt:lpstr>
      <vt:lpstr>PowerPoint 簡報</vt:lpstr>
      <vt:lpstr>PowerPoint 簡報</vt:lpstr>
      <vt:lpstr>步驟三：模型選擇與量化</vt:lpstr>
      <vt:lpstr>實際操作與提示詞工程</vt:lpstr>
      <vt:lpstr>總結重點提醒 (Summary Checklist)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Hsuan-Che Yang</dc:creator>
  <cp:lastModifiedBy>Hsuan-Che Yang</cp:lastModifiedBy>
  <cp:revision>4</cp:revision>
  <dcterms:created xsi:type="dcterms:W3CDTF">2026-06-28T06:37:55Z</dcterms:created>
  <dcterms:modified xsi:type="dcterms:W3CDTF">2026-07-01T05:08:13Z</dcterms:modified>
</cp:coreProperties>
</file>
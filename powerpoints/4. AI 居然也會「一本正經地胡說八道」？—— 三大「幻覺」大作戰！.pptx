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0214" y="2764631"/>
            <a:ext cx="10131422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62"/>
              </a:lnSpc>
            </a:pPr>
            <a:r>
              <a:rPr sz="4050" b="1" i="0" u="none" dirty="0">
                <a:solidFill>
                  <a:srgbClr val="0F172A"/>
                </a:solidFill>
                <a:latin typeface="Noto Sans TC"/>
              </a:rPr>
              <a:t>AI </a:t>
            </a:r>
            <a:r>
              <a:rPr sz="4050" b="1" i="0" u="none" dirty="0" err="1">
                <a:solidFill>
                  <a:srgbClr val="0F172A"/>
                </a:solidFill>
                <a:latin typeface="Noto Sans TC"/>
              </a:rPr>
              <a:t>也會「一本正經地胡說八道</a:t>
            </a:r>
            <a:r>
              <a:rPr sz="4050" b="1" i="0" u="none" dirty="0">
                <a:solidFill>
                  <a:srgbClr val="0F172A"/>
                </a:solidFill>
                <a:latin typeface="Noto Sans TC"/>
              </a:rPr>
              <a:t>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9901" y="3598068"/>
            <a:ext cx="377219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Noto Sans TC Medium"/>
              </a:rPr>
              <a:t>帶你認識三大 LLM 「幻覺」大作戰！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FF722C4-821D-FA98-867F-2283FEF504E7}"/>
              </a:ext>
            </a:extLst>
          </p:cNvPr>
          <p:cNvGrpSpPr/>
          <p:nvPr/>
        </p:nvGrpSpPr>
        <p:grpSpPr>
          <a:xfrm>
            <a:off x="4572512" y="4314853"/>
            <a:ext cx="3046826" cy="447675"/>
            <a:chOff x="5431316" y="4226718"/>
            <a:chExt cx="3046826" cy="447675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7707A606-7B1D-68A1-13E6-A7F5B7C26E12}"/>
                </a:ext>
              </a:extLst>
            </p:cNvPr>
            <p:cNvGrpSpPr/>
            <p:nvPr/>
          </p:nvGrpSpPr>
          <p:grpSpPr>
            <a:xfrm>
              <a:off x="5431316" y="4226718"/>
              <a:ext cx="3046826" cy="447675"/>
              <a:chOff x="5431316" y="4226718"/>
              <a:chExt cx="3046826" cy="447675"/>
            </a:xfrm>
          </p:grpSpPr>
          <p:pic>
            <p:nvPicPr>
              <p:cNvPr id="6" name="Picture 5" descr="imag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31316" y="4226718"/>
                <a:ext cx="3046826" cy="447675"/>
              </a:xfrm>
              <a:prstGeom prst="rect">
                <a:avLst/>
              </a:prstGeom>
            </p:spPr>
          </p:pic>
          <p:sp>
            <p:nvSpPr>
              <p:cNvPr id="9" name="TextBox 8"/>
              <p:cNvSpPr txBox="1"/>
              <p:nvPr/>
            </p:nvSpPr>
            <p:spPr>
              <a:xfrm>
                <a:off x="5754885" y="4350543"/>
                <a:ext cx="2447032" cy="200025"/>
              </a:xfrm>
              <a:prstGeom prst="rect">
                <a:avLst/>
              </a:prstGeom>
              <a:noFill/>
            </p:spPr>
            <p:txBody>
              <a:bodyPr wrap="square" lIns="118616" tIns="0" rIns="0" bIns="0" anchor="t">
                <a:spAutoFit/>
              </a:bodyPr>
              <a:lstStyle/>
              <a:p>
                <a:pPr algn="ctr"/>
                <a:r>
                  <a:rPr sz="1200" b="0" i="0" u="none" dirty="0" err="1">
                    <a:solidFill>
                      <a:srgbClr val="64748B"/>
                    </a:solidFill>
                    <a:latin typeface="Noto Sans TC Medium"/>
                  </a:rPr>
                  <a:t>學會辨識錯誤類型，建立批判思考</a:t>
                </a:r>
                <a:endParaRPr sz="1200" b="0" i="0" u="none" dirty="0">
                  <a:solidFill>
                    <a:srgbClr val="64748B"/>
                  </a:solidFill>
                  <a:latin typeface="Noto Sans TC Medium"/>
                </a:endParaRPr>
              </a:p>
            </p:txBody>
          </p:sp>
        </p:grpSp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54885" y="4369593"/>
              <a:ext cx="118616" cy="152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5134"/>
            <a:ext cx="5334000" cy="21392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45134"/>
            <a:ext cx="5334000" cy="21392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50" y="3068984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369A1"/>
                </a:solidFill>
                <a:latin typeface="Noto Sans TC"/>
              </a:rPr>
              <a:t>ChatGPT 滿分自信回答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526184"/>
            <a:ext cx="4686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334155"/>
                </a:solidFill>
                <a:latin typeface="Noto Sans TC"/>
              </a:rPr>
              <a:t>「</a:t>
            </a:r>
            <a:r>
              <a:rPr sz="1275" b="0" i="0" u="none" dirty="0" err="1">
                <a:solidFill>
                  <a:srgbClr val="334155"/>
                </a:solidFill>
                <a:latin typeface="Noto Sans TC"/>
              </a:rPr>
              <a:t>林阿土教授於</a:t>
            </a:r>
            <a:r>
              <a:rPr sz="1275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275" b="1" i="0" u="none" dirty="0">
                <a:solidFill>
                  <a:srgbClr val="334155"/>
                </a:solidFill>
                <a:latin typeface="Noto Sans TC"/>
              </a:rPr>
              <a:t>1995 </a:t>
            </a:r>
            <a:r>
              <a:rPr sz="1275" b="1" i="0" u="none" dirty="0" err="1">
                <a:solidFill>
                  <a:srgbClr val="334155"/>
                </a:solidFill>
                <a:latin typeface="Noto Sans TC"/>
              </a:rPr>
              <a:t>年</a:t>
            </a:r>
            <a:r>
              <a:rPr sz="1275" b="0" i="0" u="none" dirty="0" err="1">
                <a:solidFill>
                  <a:srgbClr val="334155"/>
                </a:solidFill>
                <a:latin typeface="Noto Sans TC"/>
              </a:rPr>
              <a:t>在國立清華大學成功研發出全球首創的</a:t>
            </a:r>
            <a:r>
              <a:rPr sz="1275" b="1" i="0" u="none" dirty="0" err="1">
                <a:solidFill>
                  <a:srgbClr val="0284C7"/>
                </a:solidFill>
                <a:latin typeface="Noto Sans TC"/>
              </a:rPr>
              <a:t>『無重力珍奶杯</a:t>
            </a:r>
            <a:r>
              <a:rPr sz="1275" b="1" i="0" u="none" dirty="0">
                <a:solidFill>
                  <a:srgbClr val="0284C7"/>
                </a:solidFill>
                <a:latin typeface="Noto Sans TC"/>
              </a:rPr>
              <a:t>』</a:t>
            </a:r>
            <a:r>
              <a:rPr sz="1275" b="0" i="0" u="none" dirty="0">
                <a:solidFill>
                  <a:srgbClr val="334155"/>
                </a:solidFill>
                <a:latin typeface="Noto Sans TC"/>
              </a:rPr>
              <a:t>，</a:t>
            </a:r>
            <a:r>
              <a:rPr sz="1275" b="0" i="0" u="none" dirty="0" err="1">
                <a:solidFill>
                  <a:srgbClr val="334155"/>
                </a:solidFill>
                <a:latin typeface="Noto Sans TC"/>
              </a:rPr>
              <a:t>並榮獲日內瓦國際發明展金牌</a:t>
            </a:r>
            <a:r>
              <a:rPr sz="1275" b="0" i="0" u="none" dirty="0">
                <a:solidFill>
                  <a:srgbClr val="334155"/>
                </a:solidFill>
                <a:latin typeface="Noto Sans TC"/>
              </a:rPr>
              <a:t>...」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0350" y="3068984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45309"/>
                </a:solidFill>
                <a:latin typeface="Noto Sans TC"/>
              </a:rPr>
              <a:t>震撼驚人真相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526184"/>
            <a:ext cx="46863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78350F"/>
                </a:solidFill>
                <a:latin typeface="Noto Sans TC"/>
              </a:rPr>
              <a:t>「</a:t>
            </a:r>
            <a:r>
              <a:rPr sz="1350" b="1" i="0" u="none" dirty="0" err="1">
                <a:solidFill>
                  <a:srgbClr val="78350F"/>
                </a:solidFill>
                <a:latin typeface="Noto Sans TC"/>
              </a:rPr>
              <a:t>林阿土」跟「無重力珍奶杯」完全不存在</a:t>
            </a:r>
            <a:r>
              <a:rPr sz="1350" b="1" i="0" u="none" dirty="0">
                <a:solidFill>
                  <a:srgbClr val="78350F"/>
                </a:solidFill>
                <a:latin typeface="Noto Sans TC"/>
              </a:rPr>
              <a:t>！</a:t>
            </a:r>
            <a:r>
              <a:rPr dirty="0"/>
              <a:t>
</a:t>
            </a:r>
            <a:r>
              <a:rPr sz="1350" b="0" i="0" u="none" dirty="0">
                <a:solidFill>
                  <a:srgbClr val="78350F"/>
                </a:solidFill>
                <a:latin typeface="Noto Sans TC"/>
              </a:rPr>
              <a:t> </a:t>
            </a:r>
            <a:r>
              <a:rPr sz="1350" b="0" i="0" u="none" dirty="0" err="1">
                <a:solidFill>
                  <a:srgbClr val="78350F"/>
                </a:solidFill>
                <a:latin typeface="Noto Sans TC"/>
              </a:rPr>
              <a:t>這是老師上課前</a:t>
            </a:r>
            <a:r>
              <a:rPr sz="1350" b="0" i="0" u="none" dirty="0">
                <a:solidFill>
                  <a:srgbClr val="78350F"/>
                </a:solidFill>
                <a:latin typeface="Noto Sans TC"/>
              </a:rPr>
              <a:t> 1 </a:t>
            </a:r>
            <a:r>
              <a:rPr sz="1350" b="0" i="0" u="none" dirty="0" err="1">
                <a:solidFill>
                  <a:srgbClr val="78350F"/>
                </a:solidFill>
                <a:latin typeface="Noto Sans TC"/>
              </a:rPr>
              <a:t>分鐘隨手亂編的假名字</a:t>
            </a:r>
            <a:r>
              <a:rPr sz="1350" b="0" i="0" u="none" dirty="0">
                <a:solidFill>
                  <a:srgbClr val="78350F"/>
                </a:solidFill>
                <a:latin typeface="Noto Sans TC"/>
              </a:rPr>
              <a:t>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4217640"/>
            <a:ext cx="4686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B45309"/>
                </a:solidFill>
                <a:latin typeface="Noto Sans TC"/>
              </a:rPr>
              <a:t>⚠️ AI 為什麼能用如此真誠、專業且自信的語氣編造謊言？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99" y="3085050"/>
            <a:ext cx="177849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107084"/>
            <a:ext cx="17784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Noto Sans TC"/>
              </a:rPr>
              <a:t>現場直擊：誰是「林阿土」教授</a:t>
            </a:r>
            <a:r>
              <a:rPr sz="2850" b="1" i="0" u="none" dirty="0">
                <a:solidFill>
                  <a:srgbClr val="0F172A"/>
                </a:solidFill>
                <a:latin typeface="Noto Sans TC"/>
              </a:rPr>
              <a:t>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334155"/>
                </a:solidFill>
                <a:latin typeface="Noto Sans TC"/>
              </a:rPr>
              <a:t>沒有自我意識與動機</a:t>
            </a:r>
            <a:r>
              <a:rPr dirty="0"/>
              <a:t>
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AI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內部並沒有「惡意說謊想騙人類」的壞心眼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0033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334155"/>
                </a:solidFill>
                <a:latin typeface="Noto Sans TC"/>
              </a:rPr>
              <a:t>極致追尋文字接龍流暢度</a:t>
            </a:r>
            <a:r>
              <a:rPr dirty="0"/>
              <a:t>
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它唯一的使命是讓句子的</a:t>
            </a:r>
            <a:r>
              <a:rPr sz="1425" b="1" i="0" u="none" dirty="0" err="1">
                <a:solidFill>
                  <a:srgbClr val="0284C7"/>
                </a:solidFill>
                <a:latin typeface="Noto Sans TC"/>
              </a:rPr>
              <a:t>「語法與統計流暢度最高</a:t>
            </a:r>
            <a:r>
              <a:rPr sz="1425" b="1" i="0" u="none" dirty="0">
                <a:solidFill>
                  <a:srgbClr val="0284C7"/>
                </a:solidFill>
                <a:latin typeface="Noto Sans TC"/>
              </a:rPr>
              <a:t>」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39566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334155"/>
                </a:solidFill>
                <a:latin typeface="Noto Sans TC"/>
              </a:rPr>
              <a:t>缺乏事實查證機制</a:t>
            </a:r>
            <a:r>
              <a:rPr dirty="0"/>
              <a:t>
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AI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是語法正確的極致展現，但底層缺乏真實世界的事實約束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24150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19475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Noto Sans TC"/>
              </a:rPr>
              <a:t>幻覺的真相：它不是故意要騙你</a:t>
            </a:r>
            <a:endParaRPr sz="2850" b="1" i="0" u="none" dirty="0">
              <a:solidFill>
                <a:srgbClr val="0F172A"/>
              </a:solidFill>
              <a:latin typeface="Noto Sans T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2712"/>
            <a:ext cx="3530649" cy="2324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52712"/>
            <a:ext cx="3530649" cy="2324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52712"/>
            <a:ext cx="3530649" cy="2324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938462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662362"/>
            <a:ext cx="176022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給一說十的超能力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明明你只給它簡短的一段文字，它卻自動幫你腦補出多餘的劇情與細節。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6499" y="2938462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6499" y="3662362"/>
            <a:ext cx="132016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摘要過度延伸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6499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即便限定「只能根據文件做摘要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」，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它仍會在裡面偷塞原文沒寫的內容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749" y="2938462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75749" y="3662362"/>
            <a:ext cx="266486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忠實性 (Faithfulness) 失效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749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文字看似極度順暢，實則完全扭曲偏離了原始參考資料的主張。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216" y="3071812"/>
            <a:ext cx="207466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9466" y="3071812"/>
            <a:ext cx="207466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8716" y="3071812"/>
            <a:ext cx="207466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角色一：腦補大師 (Faithfulness)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6525"/>
            <a:ext cx="5334000" cy="2276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76525"/>
            <a:ext cx="5334000" cy="2276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50" y="3000375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66534"/>
                </a:solidFill>
                <a:latin typeface="Noto Sans TC"/>
              </a:rPr>
              <a:t>原始文章內容 (Context)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457575"/>
            <a:ext cx="4686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14532D"/>
                </a:solidFill>
                <a:latin typeface="Noto Sans TC"/>
              </a:rPr>
              <a:t>「</a:t>
            </a:r>
            <a:r>
              <a:rPr sz="1350" b="0" i="0" u="none" dirty="0" err="1">
                <a:solidFill>
                  <a:srgbClr val="14532D"/>
                </a:solidFill>
                <a:latin typeface="Noto Sans TC"/>
              </a:rPr>
              <a:t>資管科第一學期開設了『Python</a:t>
            </a:r>
            <a:r>
              <a:rPr sz="1350" b="0" i="0" u="none" dirty="0">
                <a:solidFill>
                  <a:srgbClr val="14532D"/>
                </a:solidFill>
                <a:latin typeface="Noto Sans TC"/>
              </a:rPr>
              <a:t> </a:t>
            </a:r>
            <a:r>
              <a:rPr sz="1350" b="0" i="0" u="none" dirty="0" err="1">
                <a:solidFill>
                  <a:srgbClr val="14532D"/>
                </a:solidFill>
                <a:latin typeface="Noto Sans TC"/>
              </a:rPr>
              <a:t>程式設計』基礎課程，旨在培養邏輯思考與語法基礎</a:t>
            </a:r>
            <a:r>
              <a:rPr sz="1350" b="0" i="0" u="none" dirty="0">
                <a:solidFill>
                  <a:srgbClr val="14532D"/>
                </a:solidFill>
                <a:latin typeface="Noto Sans TC"/>
              </a:rPr>
              <a:t>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0350" y="3000375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991B1B"/>
                </a:solidFill>
                <a:latin typeface="Noto Sans TC"/>
              </a:rPr>
              <a:t>AI 摘要後腦補出的內容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457575"/>
            <a:ext cx="4686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7F1D1D"/>
                </a:solidFill>
                <a:latin typeface="Noto Sans TC"/>
              </a:rPr>
              <a:t>「</a:t>
            </a:r>
            <a:r>
              <a:rPr sz="1350" b="0" i="0" u="none" dirty="0" err="1">
                <a:solidFill>
                  <a:srgbClr val="7F1D1D"/>
                </a:solidFill>
                <a:latin typeface="Noto Sans TC"/>
              </a:rPr>
              <a:t>資管科第一學期開設</a:t>
            </a:r>
            <a:r>
              <a:rPr sz="1350" b="0" i="0" u="none" dirty="0">
                <a:solidFill>
                  <a:srgbClr val="7F1D1D"/>
                </a:solidFill>
                <a:latin typeface="Noto Sans TC"/>
              </a:rPr>
              <a:t> Python </a:t>
            </a:r>
            <a:r>
              <a:rPr sz="1350" b="0" i="0" u="none" dirty="0" err="1">
                <a:solidFill>
                  <a:srgbClr val="7F1D1D"/>
                </a:solidFill>
                <a:latin typeface="Noto Sans TC"/>
              </a:rPr>
              <a:t>課，</a:t>
            </a:r>
            <a:r>
              <a:rPr sz="1350" b="1" i="0" u="none" dirty="0" err="1">
                <a:solidFill>
                  <a:srgbClr val="DC2626"/>
                </a:solidFill>
                <a:latin typeface="Noto Sans TC"/>
              </a:rPr>
              <a:t>期末需要在成果發表會上獨立開發出手機</a:t>
            </a:r>
            <a:r>
              <a:rPr sz="1350" b="1" i="0" u="none" dirty="0">
                <a:solidFill>
                  <a:srgbClr val="DC2626"/>
                </a:solidFill>
                <a:latin typeface="Noto Sans TC"/>
              </a:rPr>
              <a:t> APP </a:t>
            </a:r>
            <a:r>
              <a:rPr sz="1350" b="1" i="0" u="none" dirty="0" err="1">
                <a:solidFill>
                  <a:srgbClr val="DC2626"/>
                </a:solidFill>
                <a:latin typeface="Noto Sans TC"/>
              </a:rPr>
              <a:t>與購物網站</a:t>
            </a:r>
            <a:r>
              <a:rPr sz="1350" b="0" i="0" u="none" dirty="0">
                <a:solidFill>
                  <a:srgbClr val="7F1D1D"/>
                </a:solidFill>
                <a:latin typeface="Noto Sans TC"/>
              </a:rPr>
              <a:t>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4086225"/>
            <a:ext cx="4686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91B1B"/>
                </a:solidFill>
                <a:latin typeface="Noto Sans TC"/>
              </a:rPr>
              <a:t>🔍 </a:t>
            </a:r>
            <a:r>
              <a:rPr sz="1125" b="1" i="0" u="none">
                <a:solidFill>
                  <a:srgbClr val="991B1B"/>
                </a:solidFill>
                <a:latin typeface="Noto Sans TC"/>
              </a:rPr>
              <a:t>穿幫分析：</a:t>
            </a:r>
            <a:r>
              <a:rPr sz="1125" b="0" i="0" u="none">
                <a:solidFill>
                  <a:srgbClr val="991B1B"/>
                </a:solidFill>
                <a:latin typeface="Noto Sans TC"/>
              </a:rPr>
              <a:t>基礎課根本沒有寫這種要求！這是 AI 從訓練庫中擅自添加的假劇情。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3038475"/>
            <a:ext cx="177849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038475"/>
            <a:ext cx="17784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案發現場：資管科的 Python 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2620" y="476250"/>
            <a:ext cx="519002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角色二：平行時空旅人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824162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Noto Sans TC"/>
              </a:rPr>
              <a:t>外部知識的幻覺</a:t>
            </a:r>
            <a:r>
              <a:rPr sz="1350" b="1" i="0" u="none" dirty="0">
                <a:solidFill>
                  <a:srgbClr val="334155"/>
                </a:solidFill>
                <a:latin typeface="Noto Sans TC"/>
              </a:rPr>
              <a:t> (Factuality Hallucination)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50852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超能力：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自信滿滿地無中生有、編造現實世界完全不存在的人事物！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677542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高發時機：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當你詢問歷史事件、人物生平、特定法規或專業名詞。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104233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危險之處：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它會運用標準論文或百科全書的語氣，讓你對假事實信以為真。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04901" y="4900612"/>
            <a:ext cx="75820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64748B"/>
                </a:solidFill>
                <a:latin typeface="Noto Sans TC"/>
              </a:rPr>
              <a:t>💡 </a:t>
            </a:r>
            <a:r>
              <a:rPr sz="1200" b="1" i="0" u="none" dirty="0" err="1">
                <a:solidFill>
                  <a:srgbClr val="64748B"/>
                </a:solidFill>
                <a:latin typeface="Noto Sans TC"/>
              </a:rPr>
              <a:t>原因解析：</a:t>
            </a:r>
            <a:r>
              <a:rPr sz="1200" b="0" i="0" u="none" dirty="0" err="1">
                <a:solidFill>
                  <a:srgbClr val="64748B"/>
                </a:solidFill>
                <a:latin typeface="Noto Sans TC"/>
              </a:rPr>
              <a:t>AI</a:t>
            </a:r>
            <a:r>
              <a:rPr sz="1200" b="0" i="0" u="none" dirty="0">
                <a:solidFill>
                  <a:srgbClr val="64748B"/>
                </a:solidFill>
                <a:latin typeface="Noto Sans TC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Noto Sans TC"/>
              </a:rPr>
              <a:t>大腦裡存有很多「發明家模板</a:t>
            </a:r>
            <a:r>
              <a:rPr sz="1200" b="0" i="0" u="none" dirty="0">
                <a:solidFill>
                  <a:srgbClr val="64748B"/>
                </a:solidFill>
                <a:latin typeface="Noto Sans TC"/>
              </a:rPr>
              <a:t>」，</a:t>
            </a:r>
            <a:r>
              <a:rPr sz="1200" b="0" i="0" u="none" dirty="0" err="1">
                <a:solidFill>
                  <a:srgbClr val="64748B"/>
                </a:solidFill>
                <a:latin typeface="Noto Sans TC"/>
              </a:rPr>
              <a:t>只要遇到缺乏資料的題目，就會自動填入高機率的隨機名字</a:t>
            </a:r>
            <a:r>
              <a:rPr sz="1200" b="0" i="0" u="none" dirty="0">
                <a:solidFill>
                  <a:srgbClr val="64748B"/>
                </a:solidFill>
                <a:latin typeface="Noto Sans TC"/>
              </a:rPr>
              <a:t>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386012"/>
            <a:ext cx="11049000" cy="23241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386012"/>
          <a:ext cx="11039473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3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1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變數模板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AI 盲目填空回答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事實真實性對照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E293B"/>
                          </a:solidFill>
                          <a:latin typeface="Noto Sans TC"/>
                        </a:rPr>
                        <a:t>發明家姓名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陳大同 教授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世界上無此人 (隨機湊字)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E293B"/>
                          </a:solidFill>
                          <a:latin typeface="Noto Sans TC"/>
                        </a:rPr>
                        <a:t>發表日期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2022 年 8 月 15 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純屬隨機機率填空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E293B"/>
                          </a:solidFill>
                          <a:latin typeface="Noto Sans TC"/>
                        </a:rPr>
                        <a:t>發表地點/事蹟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台北發表無重力珍奶杯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根本沒有這項專利與技術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6262" y="2981325"/>
            <a:ext cx="2815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91346" y="2981325"/>
            <a:ext cx="3953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44667" y="2981325"/>
            <a:ext cx="4271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3552825"/>
            <a:ext cx="2815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91346" y="3552825"/>
            <a:ext cx="3953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44667" y="3552825"/>
            <a:ext cx="4271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262" y="4124325"/>
            <a:ext cx="2815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1346" y="4124325"/>
            <a:ext cx="3953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44667" y="4124325"/>
            <a:ext cx="4271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262" y="4695825"/>
            <a:ext cx="2815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91346" y="4695825"/>
            <a:ext cx="3953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44667" y="4695825"/>
            <a:ext cx="4271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案發現場：陳大同與無重力珍奶杯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334155"/>
                </a:solidFill>
                <a:latin typeface="Noto Sans TC"/>
              </a:rPr>
              <a:t>推理性結構的幻覺</a:t>
            </a:r>
            <a:r>
              <a:rPr dirty="0"/>
              <a:t>
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思考步驟看似非常嚴謹專業，卻在最關鍵的一步直接滑鐵盧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0033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334155"/>
                </a:solidFill>
                <a:latin typeface="Noto Sans TC"/>
              </a:rPr>
              <a:t>高發災情區域</a:t>
            </a:r>
            <a:r>
              <a:rPr dirty="0"/>
              <a:t>
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多步驟數學計算、邏輯推理難題、程式碼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Debug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分析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39566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334155"/>
                </a:solidFill>
                <a:latin typeface="Noto Sans TC"/>
              </a:rPr>
              <a:t>畫出推理的「形狀</a:t>
            </a:r>
            <a:r>
              <a:rPr sz="1425" b="1" i="0" u="none" dirty="0">
                <a:solidFill>
                  <a:srgbClr val="334155"/>
                </a:solidFill>
                <a:latin typeface="Noto Sans TC"/>
              </a:rPr>
              <a:t>」</a:t>
            </a:r>
            <a:r>
              <a:rPr dirty="0"/>
              <a:t>
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AI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並未真正理解數學與程式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logic，只是照著格式模仿排版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24150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19475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Noto Sans TC"/>
              </a:rPr>
              <a:t>角色三：邏輯大車禍</a:t>
            </a:r>
            <a:r>
              <a:rPr sz="2850" b="1" i="0" u="none" dirty="0">
                <a:solidFill>
                  <a:srgbClr val="0F172A"/>
                </a:solidFill>
                <a:latin typeface="Noto Sans TC"/>
              </a:rPr>
              <a:t> (Reasoning)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511" y="2152650"/>
            <a:ext cx="3342977" cy="704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86100"/>
            <a:ext cx="5334000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086100"/>
            <a:ext cx="5334000" cy="2390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4061" y="2362200"/>
            <a:ext cx="2923877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5350" y="3409950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369A1"/>
                </a:solidFill>
                <a:latin typeface="Noto Sans TC"/>
              </a:rPr>
              <a:t>完美的 前 3 步推理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3867150"/>
            <a:ext cx="46863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1.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原有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5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個蘋果，吃掉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2 個：</a:t>
            </a:r>
            <a:r>
              <a:rPr sz="1350" b="1" i="0" u="none" dirty="0">
                <a:solidFill>
                  <a:srgbClr val="16A34A"/>
                </a:solidFill>
                <a:latin typeface="Noto Sans TC"/>
              </a:rPr>
              <a:t>5 - 2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4238625"/>
            <a:ext cx="46863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2. 朋友再送 3 個：</a:t>
            </a:r>
            <a:r>
              <a:rPr sz="1350" b="1" i="0" u="none">
                <a:solidFill>
                  <a:srgbClr val="16A34A"/>
                </a:solidFill>
                <a:latin typeface="Noto Sans TC"/>
              </a:rPr>
              <a:t>3 + 3 =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3409950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Noto Sans TC"/>
              </a:rPr>
              <a:t>最後 1 步神奇翻車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3867150"/>
            <a:ext cx="46863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3. 平均分給 2 個妹妹：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0350" y="4238625"/>
            <a:ext cx="46863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DC2626"/>
                </a:solidFill>
                <a:latin typeface="Noto Sans TC"/>
              </a:rPr>
              <a:t>6 / 2 = 4 (答案：每人分 4 個！)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350" y="4610100"/>
            <a:ext cx="4686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91B1B"/>
                </a:solidFill>
                <a:latin typeface="Noto Sans TC"/>
              </a:rPr>
              <a:t>💥 前面邏輯無懈可擊，最後除法居然算錯！證明 AI 只是在「畫出」題目架構。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3448050"/>
            <a:ext cx="177849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0350" y="3448050"/>
            <a:ext cx="177849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案發現場：小明的分蘋果難題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6" y="5372100"/>
            <a:ext cx="11049000" cy="542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49611"/>
            <a:ext cx="3555950" cy="38024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1276350"/>
            <a:ext cx="3555950" cy="380242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1276349"/>
            <a:ext cx="3556099" cy="380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5275" y="476250"/>
            <a:ext cx="11601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Noto Sans TC"/>
              </a:rPr>
              <a:t>🕵️ 成為 AI 謊言終結者！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3334" y="5567362"/>
            <a:ext cx="118616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3758" y="2780326"/>
            <a:ext cx="32936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1. </a:t>
            </a:r>
            <a:r>
              <a:rPr sz="2000" b="1" i="0" u="none" dirty="0" err="1">
                <a:solidFill>
                  <a:srgbClr val="0F172A"/>
                </a:solidFill>
                <a:latin typeface="Noto Sans TC"/>
              </a:rPr>
              <a:t>明朝人發明智慧型手機</a:t>
            </a:r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758" y="3324135"/>
            <a:ext cx="3136850" cy="203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0" i="0" u="none" dirty="0" err="1">
                <a:solidFill>
                  <a:srgbClr val="334155"/>
                </a:solidFill>
                <a:latin typeface="Noto Sans TC"/>
              </a:rPr>
              <a:t>編造不存在的歷史與事實</a:t>
            </a:r>
            <a:endParaRPr sz="1200" b="0" i="0" u="none" dirty="0">
              <a:solidFill>
                <a:srgbClr val="334155"/>
              </a:solidFill>
              <a:latin typeface="Noto Sans TC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809" y="4586289"/>
            <a:ext cx="1227683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7500" y="2691627"/>
            <a:ext cx="32936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2. </a:t>
            </a:r>
            <a:r>
              <a:rPr sz="2000" b="1" i="0" u="none" dirty="0" err="1">
                <a:solidFill>
                  <a:srgbClr val="0F172A"/>
                </a:solidFill>
                <a:latin typeface="Noto Sans TC"/>
              </a:rPr>
              <a:t>摘要時自動加上未發生的劇情</a:t>
            </a:r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7500" y="3367806"/>
            <a:ext cx="3136850" cy="203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0" i="0" u="none" dirty="0" err="1">
                <a:solidFill>
                  <a:srgbClr val="334155"/>
                </a:solidFill>
                <a:latin typeface="Noto Sans TC"/>
              </a:rPr>
              <a:t>限定文件卻過度延伸腦補</a:t>
            </a:r>
            <a:endParaRPr sz="1200" b="0" i="0" u="none" dirty="0">
              <a:solidFill>
                <a:srgbClr val="334155"/>
              </a:solidFill>
              <a:latin typeface="Noto Sans TC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3367" y="4586289"/>
            <a:ext cx="960983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73950" y="2590125"/>
            <a:ext cx="3293849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3. </a:t>
            </a:r>
            <a:r>
              <a:rPr sz="2000" b="1" i="0" u="none" dirty="0" err="1">
                <a:solidFill>
                  <a:srgbClr val="0F172A"/>
                </a:solidFill>
                <a:latin typeface="Noto Sans TC"/>
              </a:rPr>
              <a:t>算微積分步驟全對，答案錯</a:t>
            </a:r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3949" y="3327498"/>
            <a:ext cx="3136999" cy="203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0" i="0" u="none" dirty="0" err="1">
                <a:solidFill>
                  <a:srgbClr val="334155"/>
                </a:solidFill>
                <a:latin typeface="Noto Sans TC"/>
              </a:rPr>
              <a:t>步驟看似專業但算錯結論</a:t>
            </a:r>
            <a:endParaRPr sz="1200" b="0" i="0" u="none" dirty="0">
              <a:solidFill>
                <a:srgbClr val="334155"/>
              </a:solidFill>
              <a:latin typeface="Noto Sans TC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6616" y="4586289"/>
            <a:ext cx="1094333" cy="247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342</Words>
  <Application>Microsoft Office PowerPoint</Application>
  <PresentationFormat>寬螢幕</PresentationFormat>
  <Paragraphs>64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Noto Sans TC</vt:lpstr>
      <vt:lpstr>Noto Sans TC Medium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2026-07-28T06:09:19Z</dcterms:modified>
  <cp:category/>
</cp:coreProperties>
</file>
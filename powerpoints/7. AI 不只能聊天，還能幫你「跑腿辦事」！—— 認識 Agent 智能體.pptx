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8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35642" y="2466975"/>
            <a:ext cx="5720715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75"/>
              </a:lnSpc>
            </a:pPr>
            <a:r>
              <a:rPr sz="3900" b="1" i="0" u="none">
                <a:solidFill>
                  <a:srgbClr val="0F172A"/>
                </a:solidFill>
                <a:latin typeface="Noto Sans TC"/>
              </a:rPr>
              <a:t>🤖 AI 不只能聊天，</a:t>
            </a:r>
            <a:r>
              <a:t>
</a:t>
            </a:r>
            <a:r>
              <a:rPr sz="3900" b="1" i="0" u="none">
                <a:solidFill>
                  <a:srgbClr val="0F172A"/>
                </a:solidFill>
                <a:latin typeface="Noto Sans TC"/>
              </a:rPr>
              <a:t> 還能幫你「跑腿辦事」！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51002" y="3895725"/>
            <a:ext cx="3289994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475569"/>
                </a:solidFill>
                <a:latin typeface="Noto Sans TC Medium"/>
              </a:rPr>
              <a:t>認識 AI 的進化版：Agent 智能體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908" y="4524375"/>
            <a:ext cx="6136183" cy="4476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04133" y="4648200"/>
            <a:ext cx="1744414" cy="200025"/>
          </a:xfrm>
          <a:prstGeom prst="rect">
            <a:avLst/>
          </a:prstGeom>
          <a:noFill/>
        </p:spPr>
        <p:txBody>
          <a:bodyPr wrap="square" lIns="118616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0369A1"/>
                </a:solidFill>
                <a:latin typeface="Noto Sans TC Medium"/>
              </a:rPr>
              <a:t>建議授課時間：50 分鐘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91422" y="4648200"/>
            <a:ext cx="3958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0369A1"/>
                </a:solidFill>
                <a:latin typeface="Noto Sans TC Medium"/>
              </a:rPr>
              <a:t>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73885" y="4648200"/>
            <a:ext cx="3513980" cy="184666"/>
          </a:xfrm>
          <a:prstGeom prst="rect">
            <a:avLst/>
          </a:prstGeom>
          <a:noFill/>
        </p:spPr>
        <p:txBody>
          <a:bodyPr wrap="square" lIns="118616" tIns="0" rIns="0" bIns="0" anchor="t">
            <a:spAutoFit/>
          </a:bodyPr>
          <a:lstStyle/>
          <a:p>
            <a:pPr algn="ctr"/>
            <a:r>
              <a:rPr sz="1200" b="0" i="0" u="none" dirty="0" err="1">
                <a:solidFill>
                  <a:srgbClr val="0369A1"/>
                </a:solidFill>
                <a:latin typeface="Noto Sans TC Medium"/>
              </a:rPr>
              <a:t>以前是</a:t>
            </a:r>
            <a:r>
              <a:rPr sz="1200" b="0" i="0" u="none" dirty="0">
                <a:solidFill>
                  <a:srgbClr val="0369A1"/>
                </a:solidFill>
                <a:latin typeface="Noto Sans TC Medium"/>
              </a:rPr>
              <a:t> AI </a:t>
            </a:r>
            <a:r>
              <a:rPr sz="1200" b="0" i="0" u="none" dirty="0" err="1">
                <a:solidFill>
                  <a:srgbClr val="0369A1"/>
                </a:solidFill>
                <a:latin typeface="Noto Sans TC Medium"/>
              </a:rPr>
              <a:t>陪你聊，現在是</a:t>
            </a:r>
            <a:r>
              <a:rPr sz="1200" b="0" i="0" u="none" dirty="0">
                <a:solidFill>
                  <a:srgbClr val="0369A1"/>
                </a:solidFill>
                <a:latin typeface="Noto Sans TC Medium"/>
              </a:rPr>
              <a:t> AI </a:t>
            </a:r>
            <a:r>
              <a:rPr sz="1200" b="0" i="0" u="none" dirty="0" err="1">
                <a:solidFill>
                  <a:srgbClr val="0369A1"/>
                </a:solidFill>
                <a:latin typeface="Noto Sans TC Medium"/>
              </a:rPr>
              <a:t>幫你跑</a:t>
            </a:r>
            <a:r>
              <a:rPr sz="1200" b="0" i="0" u="none" dirty="0">
                <a:solidFill>
                  <a:srgbClr val="0369A1"/>
                </a:solidFill>
                <a:latin typeface="Noto Sans TC Medium"/>
              </a:rPr>
              <a:t>！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4133" y="4667250"/>
            <a:ext cx="118616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3885" y="4667250"/>
            <a:ext cx="118616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76487"/>
            <a:ext cx="5429250" cy="1038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2376487"/>
            <a:ext cx="5429250" cy="1038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605212"/>
            <a:ext cx="5429250" cy="1038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3605212"/>
            <a:ext cx="5429250" cy="1038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2624137"/>
            <a:ext cx="342900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8900" y="2624137"/>
            <a:ext cx="342900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3852862"/>
            <a:ext cx="342900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8900" y="3852862"/>
            <a:ext cx="342900" cy="3429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33850" y="4881562"/>
            <a:ext cx="39243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1" i="0" u="none">
                <a:solidFill>
                  <a:srgbClr val="0369A1"/>
                </a:solidFill>
                <a:latin typeface="Noto Sans TC"/>
              </a:rPr>
              <a:t>💡 這些夢幻需求，都是 Agent 智能體的拿手好戲！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4450" y="2624137"/>
            <a:ext cx="36804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自動整理筆記與備份 ☁️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4450" y="2938462"/>
            <a:ext cx="350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Noto Sans TC"/>
              </a:rPr>
              <a:t>自動歸納整理課堂筆記並即時同步上傳至雲端硬碟。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4200" y="2624137"/>
            <a:ext cx="40005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規劃行程與預訂車票 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4200" y="2938462"/>
            <a:ext cx="3810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Noto Sans TC"/>
              </a:rPr>
              <a:t>自動比較班次、排定旅遊景點行程並幫忙訂好所有車票。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4450" y="3852862"/>
            <a:ext cx="384048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自動比價搶折扣並下單 🛍️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14450" y="4167187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Noto Sans TC"/>
              </a:rPr>
              <a:t>全天候監控特價訊息，出現歷史低價時自動搶購下單。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4200" y="3852862"/>
            <a:ext cx="384048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晨間喚醒與專屬簡報 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4200" y="4167187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Noto Sans TC"/>
              </a:rPr>
              <a:t>準時叫你起床，並用心播報今日天氣預報與課表行程。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1670" y="476250"/>
            <a:ext cx="11170771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課堂破冰：假如你有一個 AI 萬能助理...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005012"/>
            <a:ext cx="6053310" cy="1256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 i="0" u="none" dirty="0">
                <a:solidFill>
                  <a:srgbClr val="334155"/>
                </a:solidFill>
                <a:latin typeface="Noto Sans TC"/>
              </a:rPr>
              <a:t>LLM (</a:t>
            </a:r>
            <a:r>
              <a:rPr sz="1600" b="1" i="0" u="none" dirty="0" err="1">
                <a:solidFill>
                  <a:srgbClr val="334155"/>
                </a:solidFill>
                <a:latin typeface="Noto Sans TC"/>
              </a:rPr>
              <a:t>大型語言模型</a:t>
            </a:r>
            <a:r>
              <a:rPr sz="1600" b="1" i="0" u="none" dirty="0">
                <a:solidFill>
                  <a:srgbClr val="334155"/>
                </a:solidFill>
                <a:latin typeface="Noto Sans TC"/>
              </a:rPr>
              <a:t>)</a:t>
            </a:r>
            <a:r>
              <a:rPr sz="2000" dirty="0"/>
              <a:t>
</a:t>
            </a:r>
            <a:r>
              <a:rPr sz="1600" b="0" i="0" u="none" dirty="0">
                <a:solidFill>
                  <a:srgbClr val="334155"/>
                </a:solidFill>
                <a:latin typeface="Noto Sans TC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Noto Sans TC"/>
              </a:rPr>
              <a:t>像個知識淵博的天才作家，讀過萬卷書，但缺少能行動的手腳</a:t>
            </a:r>
            <a:r>
              <a:rPr sz="1600" b="0" i="0" u="none" dirty="0">
                <a:solidFill>
                  <a:srgbClr val="334155"/>
                </a:solidFill>
                <a:latin typeface="Noto Sans TC"/>
              </a:rPr>
              <a:t>。</a:t>
            </a:r>
            <a:r>
              <a:rPr sz="2000" dirty="0"/>
              <a:t>
</a:t>
            </a:r>
            <a:r>
              <a:rPr sz="1600" b="1" i="0" u="none" dirty="0">
                <a:solidFill>
                  <a:srgbClr val="0284C7"/>
                </a:solidFill>
                <a:latin typeface="Noto Sans TC"/>
              </a:rPr>
              <a:t>👉 </a:t>
            </a:r>
            <a:r>
              <a:rPr sz="1600" b="1" i="0" u="none" dirty="0" err="1">
                <a:solidFill>
                  <a:srgbClr val="0284C7"/>
                </a:solidFill>
                <a:latin typeface="Noto Sans TC"/>
              </a:rPr>
              <a:t>特點：很會想，只會動嘴巴對話</a:t>
            </a:r>
            <a:r>
              <a:rPr sz="1600" b="1" i="0" u="none" dirty="0">
                <a:solidFill>
                  <a:srgbClr val="0284C7"/>
                </a:solidFill>
                <a:latin typeface="Noto Sans TC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8320" y="3879257"/>
            <a:ext cx="6053310" cy="16256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 i="0" u="none" dirty="0">
                <a:solidFill>
                  <a:srgbClr val="334155"/>
                </a:solidFill>
                <a:latin typeface="Noto Sans TC"/>
              </a:rPr>
              <a:t>Agent (</a:t>
            </a:r>
            <a:r>
              <a:rPr sz="1600" b="1" i="0" u="none" dirty="0" err="1">
                <a:solidFill>
                  <a:srgbClr val="334155"/>
                </a:solidFill>
                <a:latin typeface="Noto Sans TC"/>
              </a:rPr>
              <a:t>智能體</a:t>
            </a:r>
            <a:r>
              <a:rPr sz="1600" b="1" i="0" u="none" dirty="0">
                <a:solidFill>
                  <a:srgbClr val="334155"/>
                </a:solidFill>
                <a:latin typeface="Noto Sans TC"/>
              </a:rPr>
              <a:t>)</a:t>
            </a:r>
            <a:r>
              <a:rPr sz="2000" dirty="0"/>
              <a:t>
</a:t>
            </a:r>
            <a:r>
              <a:rPr sz="1600" b="0" i="0" u="none" dirty="0">
                <a:solidFill>
                  <a:srgbClr val="334155"/>
                </a:solidFill>
                <a:latin typeface="Noto Sans TC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Noto Sans TC"/>
              </a:rPr>
              <a:t>幫天才大腦裝上了</a:t>
            </a:r>
            <a:r>
              <a:rPr sz="1600" b="1" i="0" u="none" dirty="0" err="1">
                <a:solidFill>
                  <a:srgbClr val="334155"/>
                </a:solidFill>
                <a:latin typeface="Noto Sans TC"/>
              </a:rPr>
              <a:t>「手</a:t>
            </a:r>
            <a:r>
              <a:rPr sz="1600" b="1" i="0" u="none" dirty="0">
                <a:solidFill>
                  <a:srgbClr val="334155"/>
                </a:solidFill>
                <a:latin typeface="Noto Sans TC"/>
              </a:rPr>
              <a:t>」</a:t>
            </a:r>
            <a:r>
              <a:rPr sz="1600" b="0" i="0" u="none" dirty="0">
                <a:solidFill>
                  <a:srgbClr val="334155"/>
                </a:solidFill>
                <a:latin typeface="Noto Sans TC"/>
              </a:rPr>
              <a:t>(</a:t>
            </a:r>
            <a:r>
              <a:rPr sz="1600" b="0" i="0" u="none" dirty="0" err="1">
                <a:solidFill>
                  <a:srgbClr val="334155"/>
                </a:solidFill>
                <a:latin typeface="Noto Sans TC"/>
              </a:rPr>
              <a:t>呼叫工具</a:t>
            </a:r>
            <a:r>
              <a:rPr sz="1600" b="0" i="0" u="none" dirty="0">
                <a:solidFill>
                  <a:srgbClr val="334155"/>
                </a:solidFill>
                <a:latin typeface="Noto Sans TC"/>
              </a:rPr>
              <a:t>)、</a:t>
            </a:r>
            <a:r>
              <a:rPr sz="1600" b="1" i="0" u="none" dirty="0">
                <a:solidFill>
                  <a:srgbClr val="334155"/>
                </a:solidFill>
                <a:latin typeface="Noto Sans TC"/>
              </a:rPr>
              <a:t>「</a:t>
            </a:r>
            <a:r>
              <a:rPr sz="1600" b="1" i="0" u="none" dirty="0" err="1">
                <a:solidFill>
                  <a:srgbClr val="334155"/>
                </a:solidFill>
                <a:latin typeface="Noto Sans TC"/>
              </a:rPr>
              <a:t>腳</a:t>
            </a:r>
            <a:r>
              <a:rPr sz="1600" b="1" i="0" u="none" dirty="0">
                <a:solidFill>
                  <a:srgbClr val="334155"/>
                </a:solidFill>
                <a:latin typeface="Noto Sans TC"/>
              </a:rPr>
              <a:t>」</a:t>
            </a:r>
            <a:r>
              <a:rPr sz="1600" b="0" i="0" u="none" dirty="0">
                <a:solidFill>
                  <a:srgbClr val="334155"/>
                </a:solidFill>
                <a:latin typeface="Noto Sans TC"/>
              </a:rPr>
              <a:t>(</a:t>
            </a:r>
            <a:r>
              <a:rPr sz="1600" b="0" i="0" u="none" dirty="0" err="1">
                <a:solidFill>
                  <a:srgbClr val="334155"/>
                </a:solidFill>
                <a:latin typeface="Noto Sans TC"/>
              </a:rPr>
              <a:t>操作系統</a:t>
            </a:r>
            <a:r>
              <a:rPr sz="1600" b="0" i="0" u="none" dirty="0">
                <a:solidFill>
                  <a:srgbClr val="334155"/>
                </a:solidFill>
                <a:latin typeface="Noto Sans TC"/>
              </a:rPr>
              <a:t>)</a:t>
            </a:r>
            <a:r>
              <a:rPr sz="1600" b="0" i="0" u="none" dirty="0" err="1">
                <a:solidFill>
                  <a:srgbClr val="334155"/>
                </a:solidFill>
                <a:latin typeface="Noto Sans TC"/>
              </a:rPr>
              <a:t>與</a:t>
            </a:r>
            <a:r>
              <a:rPr sz="1600" b="1" i="0" u="none" dirty="0" err="1">
                <a:solidFill>
                  <a:srgbClr val="334155"/>
                </a:solidFill>
                <a:latin typeface="Noto Sans TC"/>
              </a:rPr>
              <a:t>「手機</a:t>
            </a:r>
            <a:r>
              <a:rPr sz="1600" b="1" i="0" u="none" dirty="0">
                <a:solidFill>
                  <a:srgbClr val="334155"/>
                </a:solidFill>
                <a:latin typeface="Noto Sans TC"/>
              </a:rPr>
              <a:t>」</a:t>
            </a:r>
            <a:r>
              <a:rPr sz="1600" b="0" i="0" u="none" dirty="0">
                <a:solidFill>
                  <a:srgbClr val="334155"/>
                </a:solidFill>
                <a:latin typeface="Noto Sans TC"/>
              </a:rPr>
              <a:t>(</a:t>
            </a:r>
            <a:r>
              <a:rPr sz="1600" b="0" i="0" u="none" dirty="0" err="1">
                <a:solidFill>
                  <a:srgbClr val="334155"/>
                </a:solidFill>
                <a:latin typeface="Noto Sans TC"/>
              </a:rPr>
              <a:t>聯網能力</a:t>
            </a:r>
            <a:r>
              <a:rPr sz="1600" b="0" i="0" u="none" dirty="0">
                <a:solidFill>
                  <a:srgbClr val="334155"/>
                </a:solidFill>
                <a:latin typeface="Noto Sans TC"/>
              </a:rPr>
              <a:t>)！</a:t>
            </a:r>
            <a:r>
              <a:rPr sz="2000" dirty="0"/>
              <a:t>
</a:t>
            </a:r>
            <a:r>
              <a:rPr sz="1600" b="1" i="0" u="none" dirty="0">
                <a:solidFill>
                  <a:srgbClr val="0284C7"/>
                </a:solidFill>
                <a:latin typeface="Noto Sans TC"/>
              </a:rPr>
              <a:t>👉 </a:t>
            </a:r>
            <a:r>
              <a:rPr sz="1600" b="1" i="0" u="none" dirty="0" err="1">
                <a:solidFill>
                  <a:srgbClr val="0284C7"/>
                </a:solidFill>
                <a:latin typeface="Noto Sans TC"/>
              </a:rPr>
              <a:t>特點：很會做，能實質跑腿執行任務</a:t>
            </a:r>
            <a:r>
              <a:rPr sz="1600" b="1" i="0" u="none" dirty="0">
                <a:solidFill>
                  <a:srgbClr val="0284C7"/>
                </a:solidFill>
                <a:latin typeface="Noto Sans TC"/>
              </a:rPr>
              <a:t>。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rcRect l="25187" r="29004"/>
          <a:stretch>
            <a:fillRect/>
          </a:stretch>
        </p:blipFill>
        <p:spPr>
          <a:xfrm>
            <a:off x="7594393" y="181071"/>
            <a:ext cx="4407107" cy="651718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302" y="2208795"/>
            <a:ext cx="133498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046289"/>
            <a:ext cx="133498" cy="2000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81670" y="476250"/>
            <a:ext cx="11170771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核心差異：LLM 只是大腦，Agent 才是整個人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67037"/>
            <a:ext cx="2619375" cy="2219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375" y="2967037"/>
            <a:ext cx="2619375" cy="2219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967037"/>
            <a:ext cx="2619375" cy="22193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1125" y="2967037"/>
            <a:ext cx="2619375" cy="22193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2443162"/>
            <a:ext cx="11049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75569"/>
                </a:solidFill>
                <a:latin typeface="Noto Sans TC Medium"/>
              </a:rPr>
              <a:t>📍 實例情境：「幫我規劃一場超棒的同學生日派對！」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3233737"/>
            <a:ext cx="533400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8200" y="3938587"/>
            <a:ext cx="1128109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1. 算預算 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291012"/>
            <a:ext cx="20859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評估總預算並分攤每人費用上限。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8075" y="3233737"/>
            <a:ext cx="533400" cy="53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48075" y="3938587"/>
            <a:ext cx="1128109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2. 找場地 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075" y="4291012"/>
            <a:ext cx="20859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搜尋並篩選適合人數的派對餐廳。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7950" y="3233737"/>
            <a:ext cx="533400" cy="533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57950" y="3938587"/>
            <a:ext cx="1128109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3. 訂蛋糕 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7950" y="4291012"/>
            <a:ext cx="20859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預訂壽星喜愛的口味與造型蛋糕。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67825" y="3233737"/>
            <a:ext cx="533400" cy="533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267825" y="3938587"/>
            <a:ext cx="1128109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4. 發邀請 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7825" y="4291012"/>
            <a:ext cx="20859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自動製作邀請函並發送給所有同學。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1166" y="3367087"/>
            <a:ext cx="207466" cy="2667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1041" y="3367087"/>
            <a:ext cx="207466" cy="2667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20916" y="3367087"/>
            <a:ext cx="207466" cy="2667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30791" y="3367087"/>
            <a:ext cx="207466" cy="2667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81670" y="476250"/>
            <a:ext cx="11170771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超能力一：任務大拆解 (Planning)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05012"/>
            <a:ext cx="53340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005012"/>
            <a:ext cx="5029200" cy="814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Noto Sans TC"/>
              </a:rPr>
              <a:t>Function Calling (功能呼叫)</a:t>
            </a:r>
            <a:r>
              <a:t>
</a:t>
            </a:r>
            <a:r>
              <a:rPr sz="1425" b="0" i="0" u="none">
                <a:solidFill>
                  <a:srgbClr val="334155"/>
                </a:solidFill>
                <a:latin typeface="Noto Sans TC"/>
              </a:rPr>
              <a:t> 當 AI 發現自己「不知道」或「做不到」時，會主動求助外部工具！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2990850"/>
            <a:ext cx="5029200" cy="271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Noto Sans TC"/>
              </a:rPr>
              <a:t>查即時資料</a:t>
            </a:r>
            <a:r>
              <a:rPr sz="1425" b="0" i="0" u="none">
                <a:solidFill>
                  <a:srgbClr val="334155"/>
                </a:solidFill>
                <a:latin typeface="Noto Sans TC"/>
              </a:rPr>
              <a:t> ➡️ 呼叫 </a:t>
            </a:r>
            <a:r>
              <a:rPr sz="1425" b="1" i="0" u="none">
                <a:solidFill>
                  <a:srgbClr val="334155"/>
                </a:solidFill>
                <a:latin typeface="Noto Sans TC"/>
              </a:rPr>
              <a:t>搜尋引擎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433762"/>
            <a:ext cx="5029200" cy="271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Noto Sans TC"/>
              </a:rPr>
              <a:t>精準計算</a:t>
            </a:r>
            <a:r>
              <a:rPr sz="1425" b="0" i="0" u="none">
                <a:solidFill>
                  <a:srgbClr val="334155"/>
                </a:solidFill>
                <a:latin typeface="Noto Sans TC"/>
              </a:rPr>
              <a:t> ➡️ 呼叫 </a:t>
            </a:r>
            <a:r>
              <a:rPr sz="1425" b="1" i="0" u="none">
                <a:solidFill>
                  <a:srgbClr val="334155"/>
                </a:solidFill>
                <a:latin typeface="Noto Sans TC"/>
              </a:rPr>
              <a:t>Python 計算機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876675"/>
            <a:ext cx="5029200" cy="271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Noto Sans TC"/>
              </a:rPr>
              <a:t>發送訊息</a:t>
            </a:r>
            <a:r>
              <a:rPr sz="1425" b="0" i="0" u="none">
                <a:solidFill>
                  <a:srgbClr val="334155"/>
                </a:solidFill>
                <a:latin typeface="Noto Sans TC"/>
              </a:rPr>
              <a:t> ➡️ 呼叫 </a:t>
            </a:r>
            <a:r>
              <a:rPr sz="1425" b="1" i="0" u="none">
                <a:solidFill>
                  <a:srgbClr val="334155"/>
                </a:solidFill>
                <a:latin typeface="Noto Sans TC"/>
              </a:rPr>
              <a:t>Email / Line API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25" y="2014537"/>
            <a:ext cx="5314950" cy="3600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028825"/>
            <a:ext cx="133498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014662"/>
            <a:ext cx="133498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457575"/>
            <a:ext cx="133498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900487"/>
            <a:ext cx="133498" cy="2000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1670" y="476250"/>
            <a:ext cx="11170771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超能力二：工具箱大賽 (Tool Use)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443287"/>
            <a:ext cx="2647950" cy="1266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1850" y="3443287"/>
            <a:ext cx="2647950" cy="12668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443287"/>
            <a:ext cx="2647950" cy="12668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2550" y="3443287"/>
            <a:ext cx="2647950" cy="12668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2919412"/>
            <a:ext cx="11049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75569"/>
                </a:solidFill>
                <a:latin typeface="Noto Sans TC Medium"/>
              </a:rPr>
              <a:t>🔄 Agent 絕不是一次做完就跑，而是會「邊做邊觀察、發現錯誤即刻修正」！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1334" y="3652837"/>
            <a:ext cx="1488132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5328" y="4043362"/>
            <a:ext cx="23402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Noto Sans TC"/>
              </a:rPr>
              <a:t>「我要查台北好吃的蛋糕店。」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2080" y="3652837"/>
            <a:ext cx="1347341" cy="247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25678" y="4043362"/>
            <a:ext cx="23402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Noto Sans TC"/>
              </a:rPr>
              <a:t>開啟 Google 搜尋熱門店家。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3035" y="3652837"/>
            <a:ext cx="1666279" cy="247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26028" y="4043362"/>
            <a:ext cx="23402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Noto Sans TC"/>
              </a:rPr>
              <a:t>「回傳顯示這家名店已停業！」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7884" y="3652837"/>
            <a:ext cx="1577131" cy="2476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26378" y="4043362"/>
            <a:ext cx="23402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Noto Sans TC"/>
              </a:rPr>
              <a:t>重新思考，換搜尋第二候選店家！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1670" y="476250"/>
            <a:ext cx="11170771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超能力三：做完看一眼 (Observe &amp; Reflect)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005012"/>
            <a:ext cx="50292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DC2626"/>
                </a:solidFill>
                <a:latin typeface="Noto Sans TC"/>
              </a:rPr>
              <a:t>迷路病 (Infinite Loop)</a:t>
            </a:r>
            <a:r>
              <a:t>
</a:t>
            </a:r>
            <a:r>
              <a:rPr sz="1425" b="0" i="0" u="none">
                <a:solidFill>
                  <a:srgbClr val="334155"/>
                </a:solidFill>
                <a:latin typeface="Noto Sans TC"/>
              </a:rPr>
              <a:t> 把簡單的小事想得超複雜，不斷在原地繞遠路循環。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2719387"/>
            <a:ext cx="50292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DC2626"/>
                </a:solidFill>
                <a:latin typeface="Noto Sans TC"/>
              </a:rPr>
              <a:t>金魚腦 (Context Overflow)</a:t>
            </a:r>
            <a:r>
              <a:t>
</a:t>
            </a:r>
            <a:r>
              <a:rPr sz="1425" b="0" i="0" u="none">
                <a:solidFill>
                  <a:srgbClr val="334155"/>
                </a:solidFill>
                <a:latin typeface="Noto Sans TC"/>
              </a:rPr>
              <a:t> 任務執行太久後，把一開始最重要的最終目標全忘光。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433762"/>
            <a:ext cx="50292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DC2626"/>
                </a:solidFill>
                <a:latin typeface="Noto Sans TC"/>
              </a:rPr>
              <a:t>打錯電話 (Tool Selection Error)</a:t>
            </a:r>
            <a:r>
              <a:t>
</a:t>
            </a:r>
            <a:r>
              <a:rPr sz="1425" b="0" i="0" u="none">
                <a:solidFill>
                  <a:srgbClr val="334155"/>
                </a:solidFill>
                <a:latin typeface="Noto Sans TC"/>
              </a:rPr>
              <a:t> 該查氣象時卻笨笨地呼叫了計算機工具。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rcRect l="15444" r="15945"/>
          <a:stretch>
            <a:fillRect/>
          </a:stretch>
        </p:blipFill>
        <p:spPr>
          <a:xfrm>
            <a:off x="6991498" y="1037995"/>
            <a:ext cx="4901165" cy="4839159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028825"/>
            <a:ext cx="133498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743200"/>
            <a:ext cx="133498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457575"/>
            <a:ext cx="133498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1670" y="476250"/>
            <a:ext cx="11170771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限制與挑戰：Agent 也有掉漆的時候？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88035"/>
            <a:ext cx="11049000" cy="981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60414"/>
            <a:ext cx="5334000" cy="173712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2360414"/>
            <a:ext cx="5334000" cy="173712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" y="4497585"/>
            <a:ext cx="11081385" cy="257175"/>
          </a:xfrm>
          <a:prstGeom prst="rect">
            <a:avLst/>
          </a:prstGeom>
          <a:noFill/>
        </p:spPr>
        <p:txBody>
          <a:bodyPr wrap="square" lIns="148232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66534"/>
                </a:solidFill>
                <a:latin typeface="Noto Sans TC"/>
              </a:rPr>
              <a:t>多智能體協作 (Multi-Agent System)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4830960"/>
            <a:ext cx="105537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14532D"/>
                </a:solidFill>
                <a:latin typeface="Noto Sans TC"/>
              </a:rPr>
              <a:t>一個 AI 充當「老闆」分配任務，一個 AI 充當「工程師」寫程式，另一個 AI 充當「品管測試員」抓 Bug！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2684264"/>
            <a:ext cx="4920615" cy="304800"/>
          </a:xfrm>
          <a:prstGeom prst="rect">
            <a:avLst/>
          </a:prstGeom>
          <a:noFill/>
        </p:spPr>
        <p:txBody>
          <a:bodyPr wrap="square" lIns="177849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284C7"/>
                </a:solidFill>
                <a:latin typeface="Noto Sans TC"/>
              </a:rPr>
              <a:t>ChatGPT GPTs 商店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5350" y="3141464"/>
            <a:ext cx="46863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334155"/>
                </a:solidFill>
                <a:latin typeface="Noto Sans TC"/>
              </a:rPr>
              <a:t>整合聯網、Python 繪圖、程式碼執行與各式專屬 API 外掛，讓 ChatGPT 變身特定領域專家。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0350" y="2684264"/>
            <a:ext cx="4920615" cy="266700"/>
          </a:xfrm>
          <a:prstGeom prst="rect">
            <a:avLst/>
          </a:prstGeom>
          <a:noFill/>
        </p:spPr>
        <p:txBody>
          <a:bodyPr wrap="square" lIns="177849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284C7"/>
                </a:solidFill>
                <a:latin typeface="Noto Sans TC"/>
              </a:rPr>
              <a:t>AutoGPT / BabyAGI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0350" y="3103364"/>
            <a:ext cx="46863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334155"/>
                </a:solidFill>
                <a:latin typeface="Noto Sans TC"/>
              </a:rPr>
              <a:t>給定終極目標後，能在電腦背景自動拆解任務、寫程式並自我修正執行。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4526160"/>
            <a:ext cx="148232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350" y="2722364"/>
            <a:ext cx="177849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0350" y="2703314"/>
            <a:ext cx="177849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1670" y="476250"/>
            <a:ext cx="11170771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實務觀察：哪裡可以看到 Agent 的影子？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1670" y="476250"/>
            <a:ext cx="5170021" cy="971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未來趨勢：每個人都有專屬助理軍團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781050"/>
            <a:ext cx="276820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2929979"/>
            <a:ext cx="53149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Noto Sans TC"/>
              </a:rPr>
              <a:t>從「搜尋引擎」走向「代辦引擎」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3356669"/>
            <a:ext cx="53149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未來你不需要費心學習複雜軟體的微小操作細節，只要把需求講出來。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3783359"/>
            <a:ext cx="53149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Noto Sans TC"/>
              </a:rPr>
              <a:t>想像力大爆發：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4210050"/>
            <a:ext cx="53149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「幫我報名這門熱門課程」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 「幫我整理單據並完成報稅」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 「幫我把這支影片剪輯完成並發布！」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838325"/>
            <a:ext cx="7620000" cy="17002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9155" y="3776662"/>
            <a:ext cx="5233689" cy="4857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5275" y="476250"/>
            <a:ext cx="1160145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450" b="1" i="0" u="none">
                <a:solidFill>
                  <a:srgbClr val="0F172A"/>
                </a:solidFill>
                <a:latin typeface="Noto Sans TC"/>
              </a:rPr>
              <a:t>🎓 準備好迎接 Agent 時代了嗎？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257300"/>
            <a:ext cx="11049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1" i="0" u="none">
                <a:solidFill>
                  <a:srgbClr val="0284C7"/>
                </a:solidFill>
                <a:latin typeface="Noto Sans TC"/>
              </a:rPr>
              <a:t>「未來的勝出者，是懂得指揮 AI 替你高效辦事的人！」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33650" y="2085975"/>
            <a:ext cx="7480935" cy="257175"/>
          </a:xfrm>
          <a:prstGeom prst="rect">
            <a:avLst/>
          </a:prstGeom>
          <a:noFill/>
        </p:spPr>
        <p:txBody>
          <a:bodyPr wrap="square" lIns="148232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隨堂小挑戰：假如你是 Agent，要幫老師辦「新生茶會」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33650" y="2457450"/>
            <a:ext cx="71247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Noto Sans TC"/>
              </a:rPr>
              <a:t>請在紙上寫下：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3650" y="2776537"/>
            <a:ext cx="71247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0284C7"/>
                </a:solidFill>
                <a:latin typeface="Noto Sans TC"/>
              </a:rPr>
              <a:t>1. 你會需要哪三個</a:t>
            </a:r>
            <a:r>
              <a:rPr sz="1200" b="1" i="0" u="none">
                <a:solidFill>
                  <a:srgbClr val="0284C7"/>
                </a:solidFill>
                <a:latin typeface="Noto Sans TC"/>
              </a:rPr>
              <a:t>「外部工具 (Tools)」</a:t>
            </a:r>
            <a:r>
              <a:rPr sz="1200" b="0" i="0" u="none">
                <a:solidFill>
                  <a:srgbClr val="0284C7"/>
                </a:solidFill>
                <a:latin typeface="Noto Sans TC"/>
              </a:rPr>
              <a:t>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3650" y="3062287"/>
            <a:ext cx="71247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0284C7"/>
                </a:solidFill>
                <a:latin typeface="Noto Sans TC"/>
              </a:rPr>
              <a:t>2. 你會把這場茶會任務拆解成哪四個</a:t>
            </a:r>
            <a:r>
              <a:rPr sz="1200" b="1" i="0" u="none">
                <a:solidFill>
                  <a:srgbClr val="0284C7"/>
                </a:solidFill>
                <a:latin typeface="Noto Sans TC"/>
              </a:rPr>
              <a:t>「執行步驟 (Steps)」</a:t>
            </a:r>
            <a:r>
              <a:rPr sz="1200" b="0" i="0" u="none">
                <a:solidFill>
                  <a:srgbClr val="0284C7"/>
                </a:solidFill>
                <a:latin typeface="Noto Sans TC"/>
              </a:rPr>
              <a:t>？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3955" y="3938587"/>
            <a:ext cx="126057" cy="1619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3650" y="2114550"/>
            <a:ext cx="148232" cy="190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400</Words>
  <Application>Microsoft Macintosh PowerPoint</Application>
  <PresentationFormat>寬螢幕</PresentationFormat>
  <Paragraphs>61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5" baseType="lpstr">
      <vt:lpstr>Noto Sans TC</vt:lpstr>
      <vt:lpstr>Noto Sans TC Medium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Hsuan-Che Yang</cp:lastModifiedBy>
  <cp:revision>2</cp:revision>
  <dcterms:created xsi:type="dcterms:W3CDTF">2013-01-27T09:14:16Z</dcterms:created>
  <dcterms:modified xsi:type="dcterms:W3CDTF">2026-07-30T02:37:44Z</dcterms:modified>
  <cp:category/>
</cp:coreProperties>
</file>